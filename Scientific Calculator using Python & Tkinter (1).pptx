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League Spartan" charset="1" panose="00000800000000000000"/>
      <p:regular r:id="rId17"/>
    </p:embeddedFont>
    <p:embeddedFont>
      <p:font typeface="Canva Sans" charset="1" panose="020B0503030501040103"/>
      <p:regular r:id="rId18"/>
    </p:embeddedFont>
    <p:embeddedFont>
      <p:font typeface="Roboto" charset="1" panose="02000000000000000000"/>
      <p:regular r:id="rId19"/>
    </p:embeddedFont>
    <p:embeddedFont>
      <p:font typeface="Canva Sans Bold" charset="1" panose="020B0803030501040103"/>
      <p:regular r:id="rId20"/>
    </p:embeddedFont>
    <p:embeddedFont>
      <p:font typeface="Poppins" charset="1" panose="00000500000000000000"/>
      <p:regular r:id="rId21"/>
    </p:embeddedFont>
    <p:embeddedFont>
      <p:font typeface="Tomorrow" charset="1" panose="00000000000000000000"/>
      <p:regular r:id="rId22"/>
    </p:embeddedFont>
    <p:embeddedFont>
      <p:font typeface="Tomorrow Bold" charset="1" panose="00000000000000000000"/>
      <p:regular r:id="rId23"/>
    </p:embeddedFont>
    <p:embeddedFont>
      <p:font typeface="Archivo Black" charset="1" panose="020B0A03020202020B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7384472" y="0"/>
            <a:ext cx="3519055" cy="3519055"/>
          </a:xfrm>
          <a:custGeom>
            <a:avLst/>
            <a:gdLst/>
            <a:ahLst/>
            <a:cxnLst/>
            <a:rect r="r" b="b" t="t" l="l"/>
            <a:pathLst>
              <a:path h="3519055" w="3519055">
                <a:moveTo>
                  <a:pt x="0" y="0"/>
                </a:moveTo>
                <a:lnTo>
                  <a:pt x="3519056" y="0"/>
                </a:lnTo>
                <a:lnTo>
                  <a:pt x="3519056" y="3519055"/>
                </a:lnTo>
                <a:lnTo>
                  <a:pt x="0" y="3519055"/>
                </a:lnTo>
                <a:lnTo>
                  <a:pt x="0" y="0"/>
                </a:lnTo>
                <a:close/>
              </a:path>
            </a:pathLst>
          </a:custGeom>
          <a:blipFill>
            <a:blip r:embed="rId3"/>
            <a:stretch>
              <a:fillRect l="0" t="0" r="0" b="0"/>
            </a:stretch>
          </a:blipFill>
        </p:spPr>
      </p:sp>
      <p:sp>
        <p:nvSpPr>
          <p:cNvPr name="TextBox 10" id="10"/>
          <p:cNvSpPr txBox="true"/>
          <p:nvPr/>
        </p:nvSpPr>
        <p:spPr>
          <a:xfrm rot="0">
            <a:off x="4877581" y="4341857"/>
            <a:ext cx="9078105" cy="3679535"/>
          </a:xfrm>
          <a:prstGeom prst="rect">
            <a:avLst/>
          </a:prstGeom>
        </p:spPr>
        <p:txBody>
          <a:bodyPr anchor="t" rtlCol="false" tIns="0" lIns="0" bIns="0" rIns="0">
            <a:spAutoFit/>
          </a:bodyPr>
          <a:lstStyle/>
          <a:p>
            <a:pPr algn="ctr">
              <a:lnSpc>
                <a:spcPts val="6821"/>
              </a:lnSpc>
            </a:pPr>
            <a:r>
              <a:rPr lang="en-US" b="true" sz="4872">
                <a:solidFill>
                  <a:srgbClr val="004AAD"/>
                </a:solidFill>
                <a:latin typeface="League Spartan"/>
                <a:ea typeface="League Spartan"/>
                <a:cs typeface="League Spartan"/>
                <a:sym typeface="League Spartan"/>
              </a:rPr>
              <a:t>DESIGN AND DEVELOPMENT OF AN INTERACTIVE DESKTOP COMPUTATIONAL SYSTEM</a:t>
            </a:r>
          </a:p>
          <a:p>
            <a:pPr algn="ctr">
              <a:lnSpc>
                <a:spcPts val="1622"/>
              </a:lnSpc>
            </a:pPr>
          </a:p>
        </p:txBody>
      </p:sp>
      <p:sp>
        <p:nvSpPr>
          <p:cNvPr name="TextBox 11" id="11"/>
          <p:cNvSpPr txBox="true"/>
          <p:nvPr/>
        </p:nvSpPr>
        <p:spPr>
          <a:xfrm rot="0">
            <a:off x="6610926" y="7954717"/>
            <a:ext cx="5611416" cy="1180465"/>
          </a:xfrm>
          <a:prstGeom prst="rect">
            <a:avLst/>
          </a:prstGeom>
        </p:spPr>
        <p:txBody>
          <a:bodyPr anchor="t" rtlCol="false" tIns="0" lIns="0" bIns="0" rIns="0">
            <a:spAutoFit/>
          </a:bodyPr>
          <a:lstStyle/>
          <a:p>
            <a:pPr algn="ctr">
              <a:lnSpc>
                <a:spcPts val="4759"/>
              </a:lnSpc>
            </a:pPr>
            <a:r>
              <a:rPr lang="en-US" sz="3399">
                <a:solidFill>
                  <a:srgbClr val="004AAD"/>
                </a:solidFill>
                <a:latin typeface="Canva Sans"/>
                <a:ea typeface="Canva Sans"/>
                <a:cs typeface="Canva Sans"/>
                <a:sym typeface="Canva Sans"/>
              </a:rPr>
              <a:t>Presented By: Damini Sadh</a:t>
            </a:r>
          </a:p>
          <a:p>
            <a:pPr algn="ctr">
              <a:lnSpc>
                <a:spcPts val="475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20619" y="0"/>
            <a:ext cx="6792707" cy="10287000"/>
            <a:chOff x="0" y="0"/>
            <a:chExt cx="1789026" cy="2709333"/>
          </a:xfrm>
        </p:grpSpPr>
        <p:sp>
          <p:nvSpPr>
            <p:cNvPr name="Freeform 4" id="4"/>
            <p:cNvSpPr/>
            <p:nvPr/>
          </p:nvSpPr>
          <p:spPr>
            <a:xfrm flipH="false" flipV="false" rot="0">
              <a:off x="0" y="0"/>
              <a:ext cx="1789026" cy="2709333"/>
            </a:xfrm>
            <a:custGeom>
              <a:avLst/>
              <a:gdLst/>
              <a:ahLst/>
              <a:cxnLst/>
              <a:rect r="r" b="b" t="t" l="l"/>
              <a:pathLst>
                <a:path h="2709333" w="1789026">
                  <a:moveTo>
                    <a:pt x="0" y="0"/>
                  </a:moveTo>
                  <a:lnTo>
                    <a:pt x="1789026" y="0"/>
                  </a:lnTo>
                  <a:lnTo>
                    <a:pt x="1789026" y="2709333"/>
                  </a:lnTo>
                  <a:lnTo>
                    <a:pt x="0" y="2709333"/>
                  </a:lnTo>
                  <a:close/>
                </a:path>
              </a:pathLst>
            </a:custGeom>
            <a:solidFill>
              <a:srgbClr val="004AAD"/>
            </a:solidFill>
          </p:spPr>
        </p:sp>
        <p:sp>
          <p:nvSpPr>
            <p:cNvPr name="TextBox 5" id="5"/>
            <p:cNvSpPr txBox="true"/>
            <p:nvPr/>
          </p:nvSpPr>
          <p:spPr>
            <a:xfrm>
              <a:off x="0" y="-47625"/>
              <a:ext cx="1789026"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446818" y="8630505"/>
            <a:ext cx="897167" cy="2183545"/>
            <a:chOff x="0" y="0"/>
            <a:chExt cx="236291" cy="575090"/>
          </a:xfrm>
        </p:grpSpPr>
        <p:sp>
          <p:nvSpPr>
            <p:cNvPr name="Freeform 7" id="7"/>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8" id="8"/>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8578289" y="2001482"/>
            <a:ext cx="6493851" cy="6229318"/>
          </a:xfrm>
          <a:custGeom>
            <a:avLst/>
            <a:gdLst/>
            <a:ahLst/>
            <a:cxnLst/>
            <a:rect r="r" b="b" t="t" l="l"/>
            <a:pathLst>
              <a:path h="6229318" w="6493851">
                <a:moveTo>
                  <a:pt x="0" y="0"/>
                </a:moveTo>
                <a:lnTo>
                  <a:pt x="6493850" y="0"/>
                </a:lnTo>
                <a:lnTo>
                  <a:pt x="6493850" y="6229318"/>
                </a:lnTo>
                <a:lnTo>
                  <a:pt x="0" y="6229318"/>
                </a:lnTo>
                <a:lnTo>
                  <a:pt x="0" y="0"/>
                </a:lnTo>
                <a:close/>
              </a:path>
            </a:pathLst>
          </a:custGeom>
          <a:blipFill>
            <a:blip r:embed="rId3"/>
            <a:stretch>
              <a:fillRect l="0" t="0" r="0" b="0"/>
            </a:stretch>
          </a:blipFill>
        </p:spPr>
      </p:sp>
      <p:sp>
        <p:nvSpPr>
          <p:cNvPr name="TextBox 10" id="10"/>
          <p:cNvSpPr txBox="true"/>
          <p:nvPr/>
        </p:nvSpPr>
        <p:spPr>
          <a:xfrm rot="0">
            <a:off x="709411" y="1662134"/>
            <a:ext cx="4737407" cy="794805"/>
          </a:xfrm>
          <a:prstGeom prst="rect">
            <a:avLst/>
          </a:prstGeom>
        </p:spPr>
        <p:txBody>
          <a:bodyPr anchor="t" rtlCol="false" tIns="0" lIns="0" bIns="0" rIns="0">
            <a:spAutoFit/>
          </a:bodyPr>
          <a:lstStyle/>
          <a:p>
            <a:pPr algn="l">
              <a:lnSpc>
                <a:spcPts val="6591"/>
              </a:lnSpc>
            </a:pPr>
            <a:r>
              <a:rPr lang="en-US" b="true" sz="4708">
                <a:solidFill>
                  <a:srgbClr val="FFFFFF"/>
                </a:solidFill>
                <a:latin typeface="League Spartan"/>
                <a:ea typeface="League Spartan"/>
                <a:cs typeface="League Spartan"/>
                <a:sym typeface="League Spartan"/>
              </a:rPr>
              <a:t>INFORMATION</a:t>
            </a:r>
          </a:p>
        </p:txBody>
      </p:sp>
      <p:sp>
        <p:nvSpPr>
          <p:cNvPr name="TextBox 11" id="11"/>
          <p:cNvSpPr txBox="true"/>
          <p:nvPr/>
        </p:nvSpPr>
        <p:spPr>
          <a:xfrm rot="0">
            <a:off x="654692" y="923432"/>
            <a:ext cx="4842085" cy="770217"/>
          </a:xfrm>
          <a:prstGeom prst="rect">
            <a:avLst/>
          </a:prstGeom>
        </p:spPr>
        <p:txBody>
          <a:bodyPr anchor="t" rtlCol="false" tIns="0" lIns="0" bIns="0" rIns="0">
            <a:spAutoFit/>
          </a:bodyPr>
          <a:lstStyle/>
          <a:p>
            <a:pPr algn="l">
              <a:lnSpc>
                <a:spcPts val="6372"/>
              </a:lnSpc>
            </a:pPr>
            <a:r>
              <a:rPr lang="en-US" sz="4551">
                <a:solidFill>
                  <a:srgbClr val="FFFFFF"/>
                </a:solidFill>
                <a:latin typeface="Roboto"/>
                <a:ea typeface="Roboto"/>
                <a:cs typeface="Roboto"/>
                <a:sym typeface="Roboto"/>
              </a:rPr>
              <a:t>PROJECT</a:t>
            </a:r>
          </a:p>
        </p:txBody>
      </p:sp>
      <p:sp>
        <p:nvSpPr>
          <p:cNvPr name="TextBox 12" id="12"/>
          <p:cNvSpPr txBox="true"/>
          <p:nvPr/>
        </p:nvSpPr>
        <p:spPr>
          <a:xfrm rot="0">
            <a:off x="0" y="4651231"/>
            <a:ext cx="6343985" cy="3116261"/>
          </a:xfrm>
          <a:prstGeom prst="rect">
            <a:avLst/>
          </a:prstGeom>
        </p:spPr>
        <p:txBody>
          <a:bodyPr anchor="t" rtlCol="false" tIns="0" lIns="0" bIns="0" rIns="0">
            <a:spAutoFit/>
          </a:bodyPr>
          <a:lstStyle/>
          <a:p>
            <a:pPr algn="ctr">
              <a:lnSpc>
                <a:spcPts val="3587"/>
              </a:lnSpc>
            </a:pPr>
            <a:r>
              <a:rPr lang="en-US" sz="2562">
                <a:solidFill>
                  <a:srgbClr val="FFFFFF"/>
                </a:solidFill>
                <a:latin typeface="Canva Sans"/>
                <a:ea typeface="Canva Sans"/>
                <a:cs typeface="Canva Sans"/>
                <a:sym typeface="Canva Sans"/>
              </a:rPr>
              <a:t>• Desktop scientific calculator developed in Python.</a:t>
            </a:r>
          </a:p>
          <a:p>
            <a:pPr algn="ctr">
              <a:lnSpc>
                <a:spcPts val="3587"/>
              </a:lnSpc>
            </a:pPr>
            <a:r>
              <a:rPr lang="en-US" sz="2562">
                <a:solidFill>
                  <a:srgbClr val="FFFFFF"/>
                </a:solidFill>
                <a:latin typeface="Canva Sans"/>
                <a:ea typeface="Canva Sans"/>
                <a:cs typeface="Canva Sans"/>
                <a:sym typeface="Canva Sans"/>
              </a:rPr>
              <a:t>• Combines arithmetic, scientific, memory, history and graphing tools.</a:t>
            </a:r>
          </a:p>
          <a:p>
            <a:pPr algn="ctr">
              <a:lnSpc>
                <a:spcPts val="3587"/>
              </a:lnSpc>
            </a:pPr>
            <a:r>
              <a:rPr lang="en-US" sz="2562">
                <a:solidFill>
                  <a:srgbClr val="FFFFFF"/>
                </a:solidFill>
                <a:latin typeface="Canva Sans"/>
                <a:ea typeface="Canva Sans"/>
                <a:cs typeface="Canva Sans"/>
                <a:sym typeface="Canva Sans"/>
              </a:rPr>
              <a:t>• Uses a GUI to make advanced calculations accessible.</a:t>
            </a:r>
          </a:p>
          <a:p>
            <a:pPr algn="ctr">
              <a:lnSpc>
                <a:spcPts val="3587"/>
              </a:lnSpc>
              <a:spcBef>
                <a:spcPct val="0"/>
              </a:spcBef>
            </a:pPr>
          </a:p>
        </p:txBody>
      </p:sp>
      <p:sp>
        <p:nvSpPr>
          <p:cNvPr name="TextBox 13" id="13"/>
          <p:cNvSpPr txBox="true"/>
          <p:nvPr/>
        </p:nvSpPr>
        <p:spPr>
          <a:xfrm rot="0">
            <a:off x="490294" y="3530411"/>
            <a:ext cx="2421285" cy="646429"/>
          </a:xfrm>
          <a:prstGeom prst="rect">
            <a:avLst/>
          </a:prstGeom>
        </p:spPr>
        <p:txBody>
          <a:bodyPr anchor="t" rtlCol="false" tIns="0" lIns="0" bIns="0" rIns="0">
            <a:spAutoFit/>
          </a:bodyPr>
          <a:lstStyle/>
          <a:p>
            <a:pPr algn="ctr">
              <a:lnSpc>
                <a:spcPts val="5320"/>
              </a:lnSpc>
            </a:pPr>
            <a:r>
              <a:rPr lang="en-US" sz="3800" b="true">
                <a:solidFill>
                  <a:srgbClr val="FFFFFF"/>
                </a:solidFill>
                <a:latin typeface="Canva Sans Bold"/>
                <a:ea typeface="Canva Sans Bold"/>
                <a:cs typeface="Canva Sans Bold"/>
                <a:sym typeface="Canva Sans Bold"/>
              </a:rPr>
              <a:t>What is it?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14350" y="-334552"/>
            <a:ext cx="18802350" cy="2006600"/>
            <a:chOff x="0" y="0"/>
            <a:chExt cx="4952059" cy="528487"/>
          </a:xfrm>
        </p:grpSpPr>
        <p:sp>
          <p:nvSpPr>
            <p:cNvPr name="Freeform 4" id="4"/>
            <p:cNvSpPr/>
            <p:nvPr/>
          </p:nvSpPr>
          <p:spPr>
            <a:xfrm flipH="false" flipV="false" rot="0">
              <a:off x="0" y="0"/>
              <a:ext cx="4952059" cy="528487"/>
            </a:xfrm>
            <a:custGeom>
              <a:avLst/>
              <a:gdLst/>
              <a:ahLst/>
              <a:cxnLst/>
              <a:rect r="r" b="b" t="t" l="l"/>
              <a:pathLst>
                <a:path h="528487" w="4952059">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5761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477851" y="1729198"/>
            <a:ext cx="9328163" cy="967259"/>
          </a:xfrm>
          <a:prstGeom prst="rect">
            <a:avLst/>
          </a:prstGeom>
        </p:spPr>
        <p:txBody>
          <a:bodyPr anchor="t" rtlCol="false" tIns="0" lIns="0" bIns="0" rIns="0">
            <a:spAutoFit/>
          </a:bodyPr>
          <a:lstStyle/>
          <a:p>
            <a:pPr algn="ctr">
              <a:lnSpc>
                <a:spcPts val="7940"/>
              </a:lnSpc>
            </a:pPr>
            <a:r>
              <a:rPr lang="en-US" b="true" sz="5672">
                <a:solidFill>
                  <a:srgbClr val="004AAD"/>
                </a:solidFill>
                <a:latin typeface="League Spartan"/>
                <a:ea typeface="League Spartan"/>
                <a:cs typeface="League Spartan"/>
                <a:sym typeface="League Spartan"/>
              </a:rPr>
              <a:t>PROBLEM STATEMENT</a:t>
            </a:r>
          </a:p>
        </p:txBody>
      </p:sp>
      <p:sp>
        <p:nvSpPr>
          <p:cNvPr name="TextBox 7" id="7"/>
          <p:cNvSpPr txBox="true"/>
          <p:nvPr/>
        </p:nvSpPr>
        <p:spPr>
          <a:xfrm rot="0">
            <a:off x="2269039" y="5029897"/>
            <a:ext cx="3263886" cy="960831"/>
          </a:xfrm>
          <a:prstGeom prst="rect">
            <a:avLst/>
          </a:prstGeom>
        </p:spPr>
        <p:txBody>
          <a:bodyPr anchor="t" rtlCol="false" tIns="0" lIns="0" bIns="0" rIns="0">
            <a:spAutoFit/>
          </a:bodyPr>
          <a:lstStyle/>
          <a:p>
            <a:pPr algn="ctr">
              <a:lnSpc>
                <a:spcPts val="7940"/>
              </a:lnSpc>
            </a:pPr>
            <a:r>
              <a:rPr lang="en-US" b="true" sz="5672">
                <a:solidFill>
                  <a:srgbClr val="FFFFFF"/>
                </a:solidFill>
                <a:latin typeface="League Spartan"/>
                <a:ea typeface="League Spartan"/>
                <a:cs typeface="League Spartan"/>
                <a:sym typeface="League Spartan"/>
              </a:rPr>
              <a:t>2M</a:t>
            </a:r>
          </a:p>
        </p:txBody>
      </p:sp>
      <p:sp>
        <p:nvSpPr>
          <p:cNvPr name="TextBox 8" id="8"/>
          <p:cNvSpPr txBox="true"/>
          <p:nvPr/>
        </p:nvSpPr>
        <p:spPr>
          <a:xfrm rot="0">
            <a:off x="7509989" y="5029897"/>
            <a:ext cx="3263886" cy="960831"/>
          </a:xfrm>
          <a:prstGeom prst="rect">
            <a:avLst/>
          </a:prstGeom>
        </p:spPr>
        <p:txBody>
          <a:bodyPr anchor="t" rtlCol="false" tIns="0" lIns="0" bIns="0" rIns="0">
            <a:spAutoFit/>
          </a:bodyPr>
          <a:lstStyle/>
          <a:p>
            <a:pPr algn="ctr">
              <a:lnSpc>
                <a:spcPts val="7940"/>
              </a:lnSpc>
            </a:pPr>
            <a:r>
              <a:rPr lang="en-US" sz="5672">
                <a:solidFill>
                  <a:srgbClr val="FFFFFF"/>
                </a:solidFill>
                <a:latin typeface="League Spartan"/>
                <a:ea typeface="League Spartan"/>
                <a:cs typeface="League Spartan"/>
                <a:sym typeface="League Spartan"/>
              </a:rPr>
              <a:t>100K</a:t>
            </a:r>
          </a:p>
        </p:txBody>
      </p:sp>
      <p:sp>
        <p:nvSpPr>
          <p:cNvPr name="TextBox 9" id="9"/>
          <p:cNvSpPr txBox="true"/>
          <p:nvPr/>
        </p:nvSpPr>
        <p:spPr>
          <a:xfrm rot="0">
            <a:off x="12755075" y="5029897"/>
            <a:ext cx="3263886" cy="960831"/>
          </a:xfrm>
          <a:prstGeom prst="rect">
            <a:avLst/>
          </a:prstGeom>
        </p:spPr>
        <p:txBody>
          <a:bodyPr anchor="t" rtlCol="false" tIns="0" lIns="0" bIns="0" rIns="0">
            <a:spAutoFit/>
          </a:bodyPr>
          <a:lstStyle/>
          <a:p>
            <a:pPr algn="ctr">
              <a:lnSpc>
                <a:spcPts val="7940"/>
              </a:lnSpc>
            </a:pPr>
            <a:r>
              <a:rPr lang="en-US" b="true" sz="5672">
                <a:solidFill>
                  <a:srgbClr val="FFFFFF"/>
                </a:solidFill>
                <a:latin typeface="League Spartan"/>
                <a:ea typeface="League Spartan"/>
                <a:cs typeface="League Spartan"/>
                <a:sym typeface="League Spartan"/>
              </a:rPr>
              <a:t>82%</a:t>
            </a:r>
          </a:p>
        </p:txBody>
      </p:sp>
      <p:sp>
        <p:nvSpPr>
          <p:cNvPr name="TextBox 10" id="10"/>
          <p:cNvSpPr txBox="true"/>
          <p:nvPr/>
        </p:nvSpPr>
        <p:spPr>
          <a:xfrm rot="0">
            <a:off x="1028700" y="3608347"/>
            <a:ext cx="4247608" cy="4306644"/>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Many basic calculators can only perform simple arithmetic operations such as addition, subtraction, multiplication, and division. They are not suitable for solving advanced mathematical problems required in education, engineering, science, and programming.</a:t>
            </a:r>
          </a:p>
        </p:txBody>
      </p:sp>
      <p:sp>
        <p:nvSpPr>
          <p:cNvPr name="TextBox 11" id="11"/>
          <p:cNvSpPr txBox="true"/>
          <p:nvPr/>
        </p:nvSpPr>
        <p:spPr>
          <a:xfrm rot="0">
            <a:off x="6689816" y="3389473"/>
            <a:ext cx="4247608" cy="5087798"/>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Students, professionals, and learners often need a scientific calculator to perform calculations involving trigonometric functions, logarithms, powers, square roots, factorials, and mathematical constants like π and e. Switching between multiple tools or online calculators can reduce efficiency and interrupt workflow.</a:t>
            </a:r>
          </a:p>
        </p:txBody>
      </p:sp>
      <p:sp>
        <p:nvSpPr>
          <p:cNvPr name="TextBox 12" id="12"/>
          <p:cNvSpPr txBox="true"/>
          <p:nvPr/>
        </p:nvSpPr>
        <p:spPr>
          <a:xfrm rot="0">
            <a:off x="12263214" y="3389473"/>
            <a:ext cx="4247608" cy="6259530"/>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The objective of this project is to develop a user-friendly Scientific Calculator using Python and Tkinter that provides both basic and scientific mathematical operations through a modern graphical user interface. The application aims to make complex calculations simple, accurate, and easily accessible while demonstrating the use of Python programming, GUI development, and the Math library.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44750" y="143701"/>
            <a:ext cx="6379957" cy="10287000"/>
            <a:chOff x="0" y="0"/>
            <a:chExt cx="1680318" cy="2709333"/>
          </a:xfrm>
        </p:grpSpPr>
        <p:sp>
          <p:nvSpPr>
            <p:cNvPr name="Freeform 4" id="4"/>
            <p:cNvSpPr/>
            <p:nvPr/>
          </p:nvSpPr>
          <p:spPr>
            <a:xfrm flipH="false" flipV="false" rot="0">
              <a:off x="0" y="0"/>
              <a:ext cx="1680318" cy="2709333"/>
            </a:xfrm>
            <a:custGeom>
              <a:avLst/>
              <a:gdLst/>
              <a:ahLst/>
              <a:cxnLst/>
              <a:rect r="r" b="b" t="t" l="l"/>
              <a:pathLst>
                <a:path h="2709333" w="1680318">
                  <a:moveTo>
                    <a:pt x="0" y="0"/>
                  </a:moveTo>
                  <a:lnTo>
                    <a:pt x="1680318" y="0"/>
                  </a:lnTo>
                  <a:lnTo>
                    <a:pt x="1680318" y="2709333"/>
                  </a:lnTo>
                  <a:lnTo>
                    <a:pt x="0" y="2709333"/>
                  </a:lnTo>
                  <a:close/>
                </a:path>
              </a:pathLst>
            </a:custGeom>
            <a:solidFill>
              <a:srgbClr val="004AAD"/>
            </a:solidFill>
          </p:spPr>
        </p:sp>
        <p:sp>
          <p:nvSpPr>
            <p:cNvPr name="TextBox 5" id="5"/>
            <p:cNvSpPr txBox="true"/>
            <p:nvPr/>
          </p:nvSpPr>
          <p:spPr>
            <a:xfrm>
              <a:off x="0" y="-47625"/>
              <a:ext cx="1680318"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416878" y="2053872"/>
            <a:ext cx="1601933" cy="6466659"/>
            <a:chOff x="0" y="0"/>
            <a:chExt cx="421908" cy="1703153"/>
          </a:xfrm>
        </p:grpSpPr>
        <p:sp>
          <p:nvSpPr>
            <p:cNvPr name="Freeform 7" id="7"/>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8" id="8"/>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2394133" y="3429235"/>
            <a:ext cx="4908029" cy="971315"/>
          </a:xfrm>
          <a:prstGeom prst="rect">
            <a:avLst/>
          </a:prstGeom>
        </p:spPr>
        <p:txBody>
          <a:bodyPr anchor="t" rtlCol="false" tIns="0" lIns="0" bIns="0" rIns="0">
            <a:spAutoFit/>
          </a:bodyPr>
          <a:lstStyle/>
          <a:p>
            <a:pPr algn="r">
              <a:lnSpc>
                <a:spcPts val="2592"/>
              </a:lnSpc>
              <a:spcBef>
                <a:spcPct val="0"/>
              </a:spcBef>
            </a:pPr>
            <a:r>
              <a:rPr lang="en-US" sz="1851">
                <a:solidFill>
                  <a:srgbClr val="FFFFFF"/>
                </a:solidFill>
                <a:latin typeface="Poppins"/>
                <a:ea typeface="Poppins"/>
                <a:cs typeface="Poppins"/>
                <a:sym typeface="Poppins"/>
              </a:rPr>
              <a:t>Lorem ipsum dolor sit amet, consectetur adipiscing elit, sed do eiusmod tempor incididunt ut labore et dolore </a:t>
            </a:r>
          </a:p>
        </p:txBody>
      </p:sp>
      <p:sp>
        <p:nvSpPr>
          <p:cNvPr name="TextBox 10" id="10"/>
          <p:cNvSpPr txBox="true"/>
          <p:nvPr/>
        </p:nvSpPr>
        <p:spPr>
          <a:xfrm rot="0">
            <a:off x="12508848" y="5095875"/>
            <a:ext cx="4908029" cy="971315"/>
          </a:xfrm>
          <a:prstGeom prst="rect">
            <a:avLst/>
          </a:prstGeom>
        </p:spPr>
        <p:txBody>
          <a:bodyPr anchor="t" rtlCol="false" tIns="0" lIns="0" bIns="0" rIns="0">
            <a:spAutoFit/>
          </a:bodyPr>
          <a:lstStyle/>
          <a:p>
            <a:pPr algn="r">
              <a:lnSpc>
                <a:spcPts val="2592"/>
              </a:lnSpc>
              <a:spcBef>
                <a:spcPct val="0"/>
              </a:spcBef>
            </a:pPr>
            <a:r>
              <a:rPr lang="en-US" sz="1851">
                <a:solidFill>
                  <a:srgbClr val="FFFFFF"/>
                </a:solidFill>
                <a:latin typeface="Poppins"/>
                <a:ea typeface="Poppins"/>
                <a:cs typeface="Poppins"/>
                <a:sym typeface="Poppins"/>
              </a:rPr>
              <a:t>Lorem ipsum dolor sit amet, consectetur adipiscing elit, sed do eiusmod tempor incididunt ut labore et dolore </a:t>
            </a:r>
          </a:p>
        </p:txBody>
      </p:sp>
      <p:sp>
        <p:nvSpPr>
          <p:cNvPr name="TextBox 11" id="11"/>
          <p:cNvSpPr txBox="true"/>
          <p:nvPr/>
        </p:nvSpPr>
        <p:spPr>
          <a:xfrm rot="0">
            <a:off x="12508848" y="6962540"/>
            <a:ext cx="4908029" cy="971315"/>
          </a:xfrm>
          <a:prstGeom prst="rect">
            <a:avLst/>
          </a:prstGeom>
        </p:spPr>
        <p:txBody>
          <a:bodyPr anchor="t" rtlCol="false" tIns="0" lIns="0" bIns="0" rIns="0">
            <a:spAutoFit/>
          </a:bodyPr>
          <a:lstStyle/>
          <a:p>
            <a:pPr algn="r">
              <a:lnSpc>
                <a:spcPts val="2592"/>
              </a:lnSpc>
              <a:spcBef>
                <a:spcPct val="0"/>
              </a:spcBef>
            </a:pPr>
            <a:r>
              <a:rPr lang="en-US" sz="1851">
                <a:solidFill>
                  <a:srgbClr val="FFFFFF"/>
                </a:solidFill>
                <a:latin typeface="Poppins"/>
                <a:ea typeface="Poppins"/>
                <a:cs typeface="Poppins"/>
                <a:sym typeface="Poppins"/>
              </a:rPr>
              <a:t>Lorem ipsum dolor sit amet, consectetur adipiscing elit, sed do eiusmod tempor incididunt ut labore et dolore </a:t>
            </a:r>
          </a:p>
        </p:txBody>
      </p:sp>
      <p:sp>
        <p:nvSpPr>
          <p:cNvPr name="TextBox 12" id="12"/>
          <p:cNvSpPr txBox="true"/>
          <p:nvPr/>
        </p:nvSpPr>
        <p:spPr>
          <a:xfrm rot="0">
            <a:off x="-1101299" y="3706267"/>
            <a:ext cx="5508835" cy="770217"/>
          </a:xfrm>
          <a:prstGeom prst="rect">
            <a:avLst/>
          </a:prstGeom>
        </p:spPr>
        <p:txBody>
          <a:bodyPr anchor="t" rtlCol="false" tIns="0" lIns="0" bIns="0" rIns="0">
            <a:spAutoFit/>
          </a:bodyPr>
          <a:lstStyle/>
          <a:p>
            <a:pPr algn="r">
              <a:lnSpc>
                <a:spcPts val="6372"/>
              </a:lnSpc>
            </a:pPr>
            <a:r>
              <a:rPr lang="en-US" sz="4551">
                <a:solidFill>
                  <a:srgbClr val="FFFFFF"/>
                </a:solidFill>
                <a:latin typeface="Roboto"/>
                <a:ea typeface="Roboto"/>
                <a:cs typeface="Roboto"/>
                <a:sym typeface="Roboto"/>
              </a:rPr>
              <a:t>LEARNING</a:t>
            </a:r>
          </a:p>
        </p:txBody>
      </p:sp>
      <p:sp>
        <p:nvSpPr>
          <p:cNvPr name="TextBox 13" id="13"/>
          <p:cNvSpPr txBox="true"/>
          <p:nvPr/>
        </p:nvSpPr>
        <p:spPr>
          <a:xfrm rot="0">
            <a:off x="423539" y="4390759"/>
            <a:ext cx="4243380" cy="1623480"/>
          </a:xfrm>
          <a:prstGeom prst="rect">
            <a:avLst/>
          </a:prstGeom>
        </p:spPr>
        <p:txBody>
          <a:bodyPr anchor="t" rtlCol="false" tIns="0" lIns="0" bIns="0" rIns="0">
            <a:spAutoFit/>
          </a:bodyPr>
          <a:lstStyle/>
          <a:p>
            <a:pPr algn="r">
              <a:lnSpc>
                <a:spcPts val="6591"/>
              </a:lnSpc>
            </a:pPr>
            <a:r>
              <a:rPr lang="en-US" b="true" sz="4708">
                <a:solidFill>
                  <a:srgbClr val="FFFFFF"/>
                </a:solidFill>
                <a:latin typeface="League Spartan"/>
                <a:ea typeface="League Spartan"/>
                <a:cs typeface="League Spartan"/>
                <a:sym typeface="League Spartan"/>
              </a:rPr>
              <a:t>OUTCOME</a:t>
            </a:r>
          </a:p>
          <a:p>
            <a:pPr algn="r">
              <a:lnSpc>
                <a:spcPts val="6591"/>
              </a:lnSpc>
            </a:pPr>
          </a:p>
        </p:txBody>
      </p:sp>
      <p:sp>
        <p:nvSpPr>
          <p:cNvPr name="TextBox 14" id="14"/>
          <p:cNvSpPr txBox="true"/>
          <p:nvPr/>
        </p:nvSpPr>
        <p:spPr>
          <a:xfrm rot="0">
            <a:off x="6276028" y="1466450"/>
            <a:ext cx="10600029" cy="905511"/>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004AAD"/>
                </a:solidFill>
                <a:latin typeface="Canva Sans"/>
                <a:ea typeface="Canva Sans"/>
                <a:cs typeface="Canva Sans"/>
                <a:sym typeface="Canva Sans"/>
              </a:rPr>
              <a:t>Gained practical experience in designing and developing a user-friendly desktop application.</a:t>
            </a:r>
          </a:p>
        </p:txBody>
      </p:sp>
      <p:sp>
        <p:nvSpPr>
          <p:cNvPr name="TextBox 15" id="15"/>
          <p:cNvSpPr txBox="true"/>
          <p:nvPr/>
        </p:nvSpPr>
        <p:spPr>
          <a:xfrm rot="0">
            <a:off x="6276028" y="2603018"/>
            <a:ext cx="10600029" cy="1362711"/>
          </a:xfrm>
          <a:prstGeom prst="rect">
            <a:avLst/>
          </a:prstGeom>
        </p:spPr>
        <p:txBody>
          <a:bodyPr anchor="t" rtlCol="false" tIns="0" lIns="0" bIns="0" rIns="0">
            <a:spAutoFit/>
          </a:bodyPr>
          <a:lstStyle/>
          <a:p>
            <a:pPr algn="ctr">
              <a:lnSpc>
                <a:spcPts val="3639"/>
              </a:lnSpc>
            </a:pPr>
            <a:r>
              <a:rPr lang="en-US" sz="2599">
                <a:solidFill>
                  <a:srgbClr val="004AAD"/>
                </a:solidFill>
                <a:latin typeface="Canva Sans"/>
                <a:ea typeface="Canva Sans"/>
                <a:cs typeface="Canva Sans"/>
                <a:sym typeface="Canva Sans"/>
              </a:rPr>
              <a:t>•Learned to implement </a:t>
            </a:r>
            <a:r>
              <a:rPr lang="en-US" b="true" sz="2599">
                <a:solidFill>
                  <a:srgbClr val="004AAD"/>
                </a:solidFill>
                <a:latin typeface="Canva Sans Bold"/>
                <a:ea typeface="Canva Sans Bold"/>
                <a:cs typeface="Canva Sans Bold"/>
                <a:sym typeface="Canva Sans Bold"/>
              </a:rPr>
              <a:t>unit conversion logic and mathematical calculations</a:t>
            </a:r>
            <a:r>
              <a:rPr lang="en-US" sz="2599">
                <a:solidFill>
                  <a:srgbClr val="004AAD"/>
                </a:solidFill>
                <a:latin typeface="Canva Sans"/>
                <a:ea typeface="Canva Sans"/>
                <a:cs typeface="Canva Sans"/>
                <a:sym typeface="Canva Sans"/>
              </a:rPr>
              <a:t> accurately.</a:t>
            </a:r>
          </a:p>
          <a:p>
            <a:pPr algn="ctr">
              <a:lnSpc>
                <a:spcPts val="3639"/>
              </a:lnSpc>
              <a:spcBef>
                <a:spcPct val="0"/>
              </a:spcBef>
            </a:pPr>
          </a:p>
        </p:txBody>
      </p:sp>
      <p:sp>
        <p:nvSpPr>
          <p:cNvPr name="TextBox 16" id="16"/>
          <p:cNvSpPr txBox="true"/>
          <p:nvPr/>
        </p:nvSpPr>
        <p:spPr>
          <a:xfrm rot="0">
            <a:off x="6276028" y="3780789"/>
            <a:ext cx="10600029" cy="1362711"/>
          </a:xfrm>
          <a:prstGeom prst="rect">
            <a:avLst/>
          </a:prstGeom>
        </p:spPr>
        <p:txBody>
          <a:bodyPr anchor="t" rtlCol="false" tIns="0" lIns="0" bIns="0" rIns="0">
            <a:spAutoFit/>
          </a:bodyPr>
          <a:lstStyle/>
          <a:p>
            <a:pPr algn="ctr">
              <a:lnSpc>
                <a:spcPts val="3639"/>
              </a:lnSpc>
            </a:pPr>
            <a:r>
              <a:rPr lang="en-US" sz="2599">
                <a:solidFill>
                  <a:srgbClr val="004AAD"/>
                </a:solidFill>
                <a:latin typeface="Canva Sans"/>
                <a:ea typeface="Canva Sans"/>
                <a:cs typeface="Canva Sans"/>
                <a:sym typeface="Canva Sans"/>
              </a:rPr>
              <a:t>•Improved skills in </a:t>
            </a:r>
            <a:r>
              <a:rPr lang="en-US" b="true" sz="2599">
                <a:solidFill>
                  <a:srgbClr val="004AAD"/>
                </a:solidFill>
                <a:latin typeface="Canva Sans Bold"/>
                <a:ea typeface="Canva Sans Bold"/>
                <a:cs typeface="Canva Sans Bold"/>
                <a:sym typeface="Canva Sans Bold"/>
              </a:rPr>
              <a:t>User Interface (UI) design and usability principles</a:t>
            </a:r>
          </a:p>
          <a:p>
            <a:pPr algn="ctr">
              <a:lnSpc>
                <a:spcPts val="3639"/>
              </a:lnSpc>
              <a:spcBef>
                <a:spcPct val="0"/>
              </a:spcBef>
            </a:pPr>
          </a:p>
        </p:txBody>
      </p:sp>
      <p:sp>
        <p:nvSpPr>
          <p:cNvPr name="TextBox 17" id="17"/>
          <p:cNvSpPr txBox="true"/>
          <p:nvPr/>
        </p:nvSpPr>
        <p:spPr>
          <a:xfrm rot="0">
            <a:off x="6276028" y="4895415"/>
            <a:ext cx="10600029" cy="1362711"/>
          </a:xfrm>
          <a:prstGeom prst="rect">
            <a:avLst/>
          </a:prstGeom>
        </p:spPr>
        <p:txBody>
          <a:bodyPr anchor="t" rtlCol="false" tIns="0" lIns="0" bIns="0" rIns="0">
            <a:spAutoFit/>
          </a:bodyPr>
          <a:lstStyle/>
          <a:p>
            <a:pPr algn="ctr">
              <a:lnSpc>
                <a:spcPts val="3639"/>
              </a:lnSpc>
            </a:pPr>
            <a:r>
              <a:rPr lang="en-US" sz="2599">
                <a:solidFill>
                  <a:srgbClr val="004AAD"/>
                </a:solidFill>
                <a:latin typeface="Canva Sans"/>
                <a:ea typeface="Canva Sans"/>
                <a:cs typeface="Canva Sans"/>
                <a:sym typeface="Canva Sans"/>
              </a:rPr>
              <a:t>•Understood the importance of </a:t>
            </a:r>
            <a:r>
              <a:rPr lang="en-US" b="true" sz="2599">
                <a:solidFill>
                  <a:srgbClr val="004AAD"/>
                </a:solidFill>
                <a:latin typeface="Canva Sans Bold"/>
                <a:ea typeface="Canva Sans Bold"/>
                <a:cs typeface="Canva Sans Bold"/>
                <a:sym typeface="Canva Sans Bold"/>
              </a:rPr>
              <a:t>structured programming and modular application design</a:t>
            </a:r>
            <a:r>
              <a:rPr lang="en-US" sz="2599">
                <a:solidFill>
                  <a:srgbClr val="004AAD"/>
                </a:solidFill>
                <a:latin typeface="Canva Sans"/>
                <a:ea typeface="Canva Sans"/>
                <a:cs typeface="Canva Sans"/>
                <a:sym typeface="Canva Sans"/>
              </a:rPr>
              <a:t>.</a:t>
            </a:r>
          </a:p>
          <a:p>
            <a:pPr algn="ctr">
              <a:lnSpc>
                <a:spcPts val="3639"/>
              </a:lnSpc>
              <a:spcBef>
                <a:spcPct val="0"/>
              </a:spcBef>
            </a:pPr>
          </a:p>
        </p:txBody>
      </p:sp>
      <p:sp>
        <p:nvSpPr>
          <p:cNvPr name="TextBox 18" id="18"/>
          <p:cNvSpPr txBox="true"/>
          <p:nvPr/>
        </p:nvSpPr>
        <p:spPr>
          <a:xfrm rot="0">
            <a:off x="6276028" y="6010040"/>
            <a:ext cx="10600029" cy="1362711"/>
          </a:xfrm>
          <a:prstGeom prst="rect">
            <a:avLst/>
          </a:prstGeom>
        </p:spPr>
        <p:txBody>
          <a:bodyPr anchor="t" rtlCol="false" tIns="0" lIns="0" bIns="0" rIns="0">
            <a:spAutoFit/>
          </a:bodyPr>
          <a:lstStyle/>
          <a:p>
            <a:pPr algn="ctr">
              <a:lnSpc>
                <a:spcPts val="3639"/>
              </a:lnSpc>
            </a:pPr>
            <a:r>
              <a:rPr lang="en-US" sz="2599">
                <a:solidFill>
                  <a:srgbClr val="004AAD"/>
                </a:solidFill>
                <a:latin typeface="Canva Sans"/>
                <a:ea typeface="Canva Sans"/>
                <a:cs typeface="Canva Sans"/>
                <a:sym typeface="Canva Sans"/>
              </a:rPr>
              <a:t>•Developed knowledge of </a:t>
            </a:r>
            <a:r>
              <a:rPr lang="en-US" b="true" sz="2599">
                <a:solidFill>
                  <a:srgbClr val="004AAD"/>
                </a:solidFill>
                <a:latin typeface="Canva Sans Bold"/>
                <a:ea typeface="Canva Sans Bold"/>
                <a:cs typeface="Canva Sans Bold"/>
                <a:sym typeface="Canva Sans Bold"/>
              </a:rPr>
              <a:t>handling user input, processing data, and displaying results efficiently</a:t>
            </a:r>
          </a:p>
          <a:p>
            <a:pPr algn="ctr">
              <a:lnSpc>
                <a:spcPts val="3639"/>
              </a:lnSpc>
              <a:spcBef>
                <a:spcPct val="0"/>
              </a:spcBef>
            </a:pPr>
          </a:p>
        </p:txBody>
      </p:sp>
      <p:sp>
        <p:nvSpPr>
          <p:cNvPr name="TextBox 19" id="19"/>
          <p:cNvSpPr txBox="true"/>
          <p:nvPr/>
        </p:nvSpPr>
        <p:spPr>
          <a:xfrm rot="0">
            <a:off x="6276028" y="7223924"/>
            <a:ext cx="10600029" cy="1362711"/>
          </a:xfrm>
          <a:prstGeom prst="rect">
            <a:avLst/>
          </a:prstGeom>
        </p:spPr>
        <p:txBody>
          <a:bodyPr anchor="t" rtlCol="false" tIns="0" lIns="0" bIns="0" rIns="0">
            <a:spAutoFit/>
          </a:bodyPr>
          <a:lstStyle/>
          <a:p>
            <a:pPr algn="ctr">
              <a:lnSpc>
                <a:spcPts val="3639"/>
              </a:lnSpc>
            </a:pPr>
            <a:r>
              <a:rPr lang="en-US" sz="2599">
                <a:solidFill>
                  <a:srgbClr val="004AAD"/>
                </a:solidFill>
                <a:latin typeface="Canva Sans"/>
                <a:ea typeface="Canva Sans"/>
                <a:cs typeface="Canva Sans"/>
                <a:sym typeface="Canva Sans"/>
              </a:rPr>
              <a:t>•Enhanced problem-solving abilities and gained experience in </a:t>
            </a:r>
            <a:r>
              <a:rPr lang="en-US" b="true" sz="2599">
                <a:solidFill>
                  <a:srgbClr val="004AAD"/>
                </a:solidFill>
                <a:latin typeface="Canva Sans Bold"/>
                <a:ea typeface="Canva Sans Bold"/>
                <a:cs typeface="Canva Sans Bold"/>
                <a:sym typeface="Canva Sans Bold"/>
              </a:rPr>
              <a:t>building real-world software solutions</a:t>
            </a:r>
            <a:r>
              <a:rPr lang="en-US" sz="2599">
                <a:solidFill>
                  <a:srgbClr val="004AAD"/>
                </a:solidFill>
                <a:latin typeface="Canva Sans"/>
                <a:ea typeface="Canva Sans"/>
                <a:cs typeface="Canva Sans"/>
                <a:sym typeface="Canva Sans"/>
              </a:rPr>
              <a:t>.</a:t>
            </a:r>
          </a:p>
          <a:p>
            <a:pPr algn="ctr">
              <a:lnSpc>
                <a:spcPts val="363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792707" cy="10287000"/>
            <a:chOff x="0" y="0"/>
            <a:chExt cx="1789026" cy="2709333"/>
          </a:xfrm>
        </p:grpSpPr>
        <p:sp>
          <p:nvSpPr>
            <p:cNvPr name="Freeform 3" id="3"/>
            <p:cNvSpPr/>
            <p:nvPr/>
          </p:nvSpPr>
          <p:spPr>
            <a:xfrm flipH="false" flipV="false" rot="0">
              <a:off x="0" y="0"/>
              <a:ext cx="1789026" cy="2709333"/>
            </a:xfrm>
            <a:custGeom>
              <a:avLst/>
              <a:gdLst/>
              <a:ahLst/>
              <a:cxnLst/>
              <a:rect r="r" b="b" t="t" l="l"/>
              <a:pathLst>
                <a:path h="2709333" w="1789026">
                  <a:moveTo>
                    <a:pt x="0" y="0"/>
                  </a:moveTo>
                  <a:lnTo>
                    <a:pt x="1789026" y="0"/>
                  </a:lnTo>
                  <a:lnTo>
                    <a:pt x="1789026" y="2709333"/>
                  </a:lnTo>
                  <a:lnTo>
                    <a:pt x="0" y="2709333"/>
                  </a:lnTo>
                  <a:close/>
                </a:path>
              </a:pathLst>
            </a:custGeom>
            <a:solidFill>
              <a:srgbClr val="004AAD"/>
            </a:solidFill>
          </p:spPr>
        </p:sp>
        <p:sp>
          <p:nvSpPr>
            <p:cNvPr name="TextBox 4" id="4"/>
            <p:cNvSpPr txBox="true"/>
            <p:nvPr/>
          </p:nvSpPr>
          <p:spPr>
            <a:xfrm>
              <a:off x="0" y="-47625"/>
              <a:ext cx="1789026" cy="2756958"/>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6963996" y="222554"/>
            <a:ext cx="5401622" cy="1267990"/>
          </a:xfrm>
          <a:prstGeom prst="rect">
            <a:avLst/>
          </a:prstGeom>
        </p:spPr>
        <p:txBody>
          <a:bodyPr anchor="t" rtlCol="false" tIns="0" lIns="0" bIns="0" rIns="0">
            <a:spAutoFit/>
          </a:bodyPr>
          <a:lstStyle/>
          <a:p>
            <a:pPr algn="l">
              <a:lnSpc>
                <a:spcPts val="4990"/>
              </a:lnSpc>
            </a:pPr>
            <a:r>
              <a:rPr lang="en-US" sz="4416" spc="-477">
                <a:solidFill>
                  <a:srgbClr val="120052"/>
                </a:solidFill>
                <a:latin typeface="League Spartan"/>
                <a:ea typeface="League Spartan"/>
                <a:cs typeface="League Spartan"/>
                <a:sym typeface="League Spartan"/>
              </a:rPr>
              <a:t>ADDING BUTTONS AND FUNCTIONS</a:t>
            </a:r>
          </a:p>
        </p:txBody>
      </p:sp>
      <p:sp>
        <p:nvSpPr>
          <p:cNvPr name="Freeform 6" id="6"/>
          <p:cNvSpPr/>
          <p:nvPr/>
        </p:nvSpPr>
        <p:spPr>
          <a:xfrm flipH="false" flipV="false" rot="0">
            <a:off x="8936994" y="2882090"/>
            <a:ext cx="7144406" cy="6537430"/>
          </a:xfrm>
          <a:custGeom>
            <a:avLst/>
            <a:gdLst/>
            <a:ahLst/>
            <a:cxnLst/>
            <a:rect r="r" b="b" t="t" l="l"/>
            <a:pathLst>
              <a:path h="6537430" w="7144406">
                <a:moveTo>
                  <a:pt x="0" y="0"/>
                </a:moveTo>
                <a:lnTo>
                  <a:pt x="7144406" y="0"/>
                </a:lnTo>
                <a:lnTo>
                  <a:pt x="7144406" y="6537430"/>
                </a:lnTo>
                <a:lnTo>
                  <a:pt x="0" y="6537430"/>
                </a:lnTo>
                <a:lnTo>
                  <a:pt x="0" y="0"/>
                </a:lnTo>
                <a:close/>
              </a:path>
            </a:pathLst>
          </a:custGeom>
          <a:blipFill>
            <a:blip r:embed="rId2"/>
            <a:stretch>
              <a:fillRect l="-17232" t="0" r="-60505" b="-9207"/>
            </a:stretch>
          </a:blipFill>
        </p:spPr>
      </p:sp>
      <p:sp>
        <p:nvSpPr>
          <p:cNvPr name="TextBox 7" id="7"/>
          <p:cNvSpPr txBox="true"/>
          <p:nvPr/>
        </p:nvSpPr>
        <p:spPr>
          <a:xfrm rot="0">
            <a:off x="307775" y="-57150"/>
            <a:ext cx="6177157" cy="11182098"/>
          </a:xfrm>
          <a:prstGeom prst="rect">
            <a:avLst/>
          </a:prstGeom>
        </p:spPr>
        <p:txBody>
          <a:bodyPr anchor="t" rtlCol="false" tIns="0" lIns="0" bIns="0" rIns="0">
            <a:spAutoFit/>
          </a:bodyPr>
          <a:lstStyle/>
          <a:p>
            <a:pPr algn="just">
              <a:lnSpc>
                <a:spcPts val="4213"/>
              </a:lnSpc>
            </a:pPr>
            <a:r>
              <a:rPr lang="en-US" sz="3009">
                <a:solidFill>
                  <a:srgbClr val="FFFFFF"/>
                </a:solidFill>
                <a:latin typeface="Canva Sans"/>
                <a:ea typeface="Canva Sans"/>
                <a:cs typeface="Canva Sans"/>
                <a:sym typeface="Canva Sans"/>
              </a:rPr>
              <a:t>Number Buttons</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0–9</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Decimal</a:t>
            </a:r>
          </a:p>
          <a:p>
            <a:pPr algn="just">
              <a:lnSpc>
                <a:spcPts val="4213"/>
              </a:lnSpc>
            </a:pPr>
            <a:r>
              <a:rPr lang="en-US" sz="3009">
                <a:solidFill>
                  <a:srgbClr val="FFFFFF"/>
                </a:solidFill>
                <a:latin typeface="Canva Sans"/>
                <a:ea typeface="Canva Sans"/>
                <a:cs typeface="Canva Sans"/>
                <a:sym typeface="Canva Sans"/>
              </a:rPr>
              <a:t>Operator Buttonsca</a:t>
            </a:r>
          </a:p>
          <a:p>
            <a:pPr algn="just" marL="1299678" indent="-433226" lvl="2">
              <a:lnSpc>
                <a:spcPts val="4213"/>
              </a:lnSpc>
              <a:buFont typeface="Arial"/>
              <a:buChar char="⚬"/>
            </a:pP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a:t>
            </a:r>
          </a:p>
          <a:p>
            <a:pPr algn="just">
              <a:lnSpc>
                <a:spcPts val="4213"/>
              </a:lnSpc>
            </a:pPr>
            <a:r>
              <a:rPr lang="en-US" sz="3009">
                <a:solidFill>
                  <a:srgbClr val="FFFFFF"/>
                </a:solidFill>
                <a:latin typeface="Canva Sans"/>
                <a:ea typeface="Canva Sans"/>
                <a:cs typeface="Canva Sans"/>
                <a:sym typeface="Canva Sans"/>
              </a:rPr>
              <a:t>Scientific Buttons</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x²</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xʸ</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sin</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cos</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tan</a:t>
            </a:r>
          </a:p>
          <a:p>
            <a:pPr algn="just" marL="649839" indent="-324920" lvl="1">
              <a:lnSpc>
                <a:spcPts val="4213"/>
              </a:lnSpc>
              <a:buFont typeface="Arial"/>
              <a:buChar char="•"/>
            </a:pPr>
            <a:r>
              <a:rPr lang="en-US" sz="3009">
                <a:solidFill>
                  <a:srgbClr val="FFFFFF"/>
                </a:solidFill>
                <a:latin typeface="Canva Sans"/>
                <a:ea typeface="Canva Sans"/>
                <a:cs typeface="Canva Sans"/>
                <a:sym typeface="Canva Sans"/>
              </a:rPr>
              <a:t>log</a:t>
            </a:r>
          </a:p>
          <a:p>
            <a:pPr algn="just">
              <a:lnSpc>
                <a:spcPts val="4213"/>
              </a:lnSpc>
            </a:pPr>
            <a:r>
              <a:rPr lang="en-US" sz="3009">
                <a:solidFill>
                  <a:srgbClr val="FFFFFF"/>
                </a:solidFill>
                <a:latin typeface="Canva Sans"/>
                <a:ea typeface="Canva Sans"/>
                <a:cs typeface="Canva Sans"/>
                <a:sym typeface="Canva Sans"/>
              </a:rPr>
              <a:t>Each button is linked to a Python function using the command parameter.</a:t>
            </a:r>
          </a:p>
          <a:p>
            <a:pPr algn="just" marL="0" indent="0" lvl="0">
              <a:lnSpc>
                <a:spcPts val="4213"/>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88966" y="859053"/>
            <a:ext cx="3986048" cy="7780255"/>
          </a:xfrm>
          <a:custGeom>
            <a:avLst/>
            <a:gdLst/>
            <a:ahLst/>
            <a:cxnLst/>
            <a:rect r="r" b="b" t="t" l="l"/>
            <a:pathLst>
              <a:path h="7780255" w="3986048">
                <a:moveTo>
                  <a:pt x="0" y="0"/>
                </a:moveTo>
                <a:lnTo>
                  <a:pt x="3986049" y="0"/>
                </a:lnTo>
                <a:lnTo>
                  <a:pt x="3986049" y="7780255"/>
                </a:lnTo>
                <a:lnTo>
                  <a:pt x="0" y="7780255"/>
                </a:lnTo>
                <a:lnTo>
                  <a:pt x="0" y="0"/>
                </a:lnTo>
                <a:close/>
              </a:path>
            </a:pathLst>
          </a:custGeom>
          <a:blipFill>
            <a:blip r:embed="rId2"/>
            <a:stretch>
              <a:fillRect l="0" t="0" r="0" b="0"/>
            </a:stretch>
          </a:blipFill>
        </p:spPr>
      </p:sp>
      <p:sp>
        <p:nvSpPr>
          <p:cNvPr name="TextBox 3" id="3"/>
          <p:cNvSpPr txBox="true"/>
          <p:nvPr/>
        </p:nvSpPr>
        <p:spPr>
          <a:xfrm rot="0">
            <a:off x="-132166" y="1057275"/>
            <a:ext cx="11525079" cy="588637"/>
          </a:xfrm>
          <a:prstGeom prst="rect">
            <a:avLst/>
          </a:prstGeom>
        </p:spPr>
        <p:txBody>
          <a:bodyPr anchor="t" rtlCol="false" tIns="0" lIns="0" bIns="0" rIns="0">
            <a:spAutoFit/>
          </a:bodyPr>
          <a:lstStyle/>
          <a:p>
            <a:pPr algn="ctr">
              <a:lnSpc>
                <a:spcPts val="4599"/>
              </a:lnSpc>
            </a:pPr>
            <a:r>
              <a:rPr lang="en-US" sz="4070" spc="-439">
                <a:solidFill>
                  <a:srgbClr val="004AAD"/>
                </a:solidFill>
                <a:latin typeface="League Spartan"/>
                <a:ea typeface="League Spartan"/>
                <a:cs typeface="League Spartan"/>
                <a:sym typeface="League Spartan"/>
              </a:rPr>
              <a:t>CALCULATOR   LOGIC &amp; FUNCTIONALITIES</a:t>
            </a:r>
          </a:p>
        </p:txBody>
      </p:sp>
      <p:sp>
        <p:nvSpPr>
          <p:cNvPr name="TextBox 4" id="4"/>
          <p:cNvSpPr txBox="true"/>
          <p:nvPr/>
        </p:nvSpPr>
        <p:spPr>
          <a:xfrm rot="0">
            <a:off x="1249712" y="1865605"/>
            <a:ext cx="4380662" cy="6470065"/>
          </a:xfrm>
          <a:prstGeom prst="rect">
            <a:avLst/>
          </a:prstGeom>
        </p:spPr>
        <p:txBody>
          <a:bodyPr anchor="t" rtlCol="false" tIns="0" lIns="0" bIns="0" rIns="0">
            <a:spAutoFit/>
          </a:bodyPr>
          <a:lstStyle/>
          <a:p>
            <a:pPr algn="just">
              <a:lnSpc>
                <a:spcPts val="6122"/>
              </a:lnSpc>
            </a:pPr>
            <a:r>
              <a:rPr lang="en-US" sz="4372">
                <a:solidFill>
                  <a:srgbClr val="031A47"/>
                </a:solidFill>
                <a:latin typeface="League Spartan"/>
                <a:ea typeface="League Spartan"/>
                <a:cs typeface="League Spartan"/>
                <a:sym typeface="League Spartan"/>
              </a:rPr>
              <a:t>Basic Arithmetic Operations</a:t>
            </a:r>
          </a:p>
          <a:p>
            <a:pPr algn="just" marL="771414" indent="-385707" lvl="1">
              <a:lnSpc>
                <a:spcPts val="5002"/>
              </a:lnSpc>
              <a:buFont typeface="Arial"/>
              <a:buChar char="•"/>
            </a:pPr>
            <a:r>
              <a:rPr lang="en-US" sz="3573">
                <a:solidFill>
                  <a:srgbClr val="031A47"/>
                </a:solidFill>
                <a:latin typeface="Tomorrow"/>
                <a:ea typeface="Tomorrow"/>
                <a:cs typeface="Tomorrow"/>
                <a:sym typeface="Tomorrow"/>
              </a:rPr>
              <a:t>Addition (+)</a:t>
            </a:r>
          </a:p>
          <a:p>
            <a:pPr algn="just" marL="771414" indent="-385707" lvl="1">
              <a:lnSpc>
                <a:spcPts val="5002"/>
              </a:lnSpc>
              <a:buFont typeface="Arial"/>
              <a:buChar char="•"/>
            </a:pPr>
            <a:r>
              <a:rPr lang="en-US" sz="3573">
                <a:solidFill>
                  <a:srgbClr val="031A47"/>
                </a:solidFill>
                <a:latin typeface="Tomorrow"/>
                <a:ea typeface="Tomorrow"/>
                <a:cs typeface="Tomorrow"/>
                <a:sym typeface="Tomorrow"/>
              </a:rPr>
              <a:t>Subtraction (-)</a:t>
            </a:r>
          </a:p>
          <a:p>
            <a:pPr algn="just" marL="771414" indent="-385707" lvl="1">
              <a:lnSpc>
                <a:spcPts val="5002"/>
              </a:lnSpc>
              <a:buFont typeface="Arial"/>
              <a:buChar char="•"/>
            </a:pPr>
            <a:r>
              <a:rPr lang="en-US" sz="3573">
                <a:solidFill>
                  <a:srgbClr val="031A47"/>
                </a:solidFill>
                <a:latin typeface="Tomorrow"/>
                <a:ea typeface="Tomorrow"/>
                <a:cs typeface="Tomorrow"/>
                <a:sym typeface="Tomorrow"/>
              </a:rPr>
              <a:t>Multiplication (×)</a:t>
            </a:r>
          </a:p>
          <a:p>
            <a:pPr algn="just" marL="771414" indent="-385707" lvl="1">
              <a:lnSpc>
                <a:spcPts val="5002"/>
              </a:lnSpc>
              <a:buFont typeface="Arial"/>
              <a:buChar char="•"/>
            </a:pPr>
            <a:r>
              <a:rPr lang="en-US" sz="3573">
                <a:solidFill>
                  <a:srgbClr val="031A47"/>
                </a:solidFill>
                <a:latin typeface="Tomorrow"/>
                <a:ea typeface="Tomorrow"/>
                <a:cs typeface="Tomorrow"/>
                <a:sym typeface="Tomorrow"/>
              </a:rPr>
              <a:t>Division (÷)</a:t>
            </a:r>
          </a:p>
          <a:p>
            <a:pPr algn="just" marL="771414" indent="-385707" lvl="1">
              <a:lnSpc>
                <a:spcPts val="5002"/>
              </a:lnSpc>
              <a:buFont typeface="Arial"/>
              <a:buChar char="•"/>
            </a:pPr>
            <a:r>
              <a:rPr lang="en-US" sz="3573">
                <a:solidFill>
                  <a:srgbClr val="031A47"/>
                </a:solidFill>
                <a:latin typeface="Tomorrow"/>
                <a:ea typeface="Tomorrow"/>
                <a:cs typeface="Tomorrow"/>
                <a:sym typeface="Tomorrow"/>
              </a:rPr>
              <a:t>Percentage (%)</a:t>
            </a:r>
          </a:p>
          <a:p>
            <a:pPr algn="just" marL="0" indent="0" lvl="0">
              <a:lnSpc>
                <a:spcPts val="3042"/>
              </a:lnSpc>
              <a:spcBef>
                <a:spcPct val="0"/>
              </a:spcBef>
            </a:pPr>
          </a:p>
        </p:txBody>
      </p:sp>
      <p:grpSp>
        <p:nvGrpSpPr>
          <p:cNvPr name="Group 5" id="5"/>
          <p:cNvGrpSpPr/>
          <p:nvPr/>
        </p:nvGrpSpPr>
        <p:grpSpPr>
          <a:xfrm rot="0">
            <a:off x="-486991" y="8639308"/>
            <a:ext cx="18802350" cy="2006600"/>
            <a:chOff x="0" y="0"/>
            <a:chExt cx="4952059" cy="528487"/>
          </a:xfrm>
        </p:grpSpPr>
        <p:sp>
          <p:nvSpPr>
            <p:cNvPr name="Freeform 6" id="6"/>
            <p:cNvSpPr/>
            <p:nvPr/>
          </p:nvSpPr>
          <p:spPr>
            <a:xfrm flipH="false" flipV="false" rot="0">
              <a:off x="0" y="0"/>
              <a:ext cx="4952059" cy="528487"/>
            </a:xfrm>
            <a:custGeom>
              <a:avLst/>
              <a:gdLst/>
              <a:ahLst/>
              <a:cxnLst/>
              <a:rect r="r" b="b" t="t" l="l"/>
              <a:pathLst>
                <a:path h="528487" w="4952059">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7" id="7"/>
            <p:cNvSpPr txBox="true"/>
            <p:nvPr/>
          </p:nvSpPr>
          <p:spPr>
            <a:xfrm>
              <a:off x="0" y="-47625"/>
              <a:ext cx="4952059" cy="57611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995287" y="2527183"/>
            <a:ext cx="10264013" cy="5232634"/>
          </a:xfrm>
          <a:custGeom>
            <a:avLst/>
            <a:gdLst/>
            <a:ahLst/>
            <a:cxnLst/>
            <a:rect r="r" b="b" t="t" l="l"/>
            <a:pathLst>
              <a:path h="5232634" w="10264013">
                <a:moveTo>
                  <a:pt x="0" y="0"/>
                </a:moveTo>
                <a:lnTo>
                  <a:pt x="10264013" y="0"/>
                </a:lnTo>
                <a:lnTo>
                  <a:pt x="10264013" y="5232634"/>
                </a:lnTo>
                <a:lnTo>
                  <a:pt x="0" y="5232634"/>
                </a:lnTo>
                <a:lnTo>
                  <a:pt x="0" y="0"/>
                </a:lnTo>
                <a:close/>
              </a:path>
            </a:pathLst>
          </a:custGeom>
          <a:blipFill>
            <a:blip r:embed="rId2"/>
            <a:stretch>
              <a:fillRect l="0" t="0" r="0" b="0"/>
            </a:stretch>
          </a:blipFill>
        </p:spPr>
      </p:sp>
      <p:sp>
        <p:nvSpPr>
          <p:cNvPr name="TextBox 3" id="3"/>
          <p:cNvSpPr txBox="true"/>
          <p:nvPr/>
        </p:nvSpPr>
        <p:spPr>
          <a:xfrm rot="0">
            <a:off x="590951" y="2177736"/>
            <a:ext cx="7078313" cy="7251278"/>
          </a:xfrm>
          <a:prstGeom prst="rect">
            <a:avLst/>
          </a:prstGeom>
        </p:spPr>
        <p:txBody>
          <a:bodyPr anchor="t" rtlCol="false" tIns="0" lIns="0" bIns="0" rIns="0">
            <a:spAutoFit/>
          </a:bodyPr>
          <a:lstStyle/>
          <a:p>
            <a:pPr algn="just">
              <a:lnSpc>
                <a:spcPts val="5868"/>
              </a:lnSpc>
            </a:pPr>
            <a:r>
              <a:rPr lang="en-US" sz="4191" b="true">
                <a:solidFill>
                  <a:srgbClr val="031A47"/>
                </a:solidFill>
                <a:latin typeface="Tomorrow Bold"/>
                <a:ea typeface="Tomorrow Bold"/>
                <a:cs typeface="Tomorrow Bold"/>
                <a:sym typeface="Tomorrow Bold"/>
              </a:rPr>
              <a:t> Scientific Functions</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Sin (sin)</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Cos (cos)</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Tan (tan)</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Logarithm (log)</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Natural Log (ln)</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Square (x²)</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Power (xʸ)</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Square Root (√)</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Factorial (n!)</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Pi (π)</a:t>
            </a:r>
          </a:p>
          <a:p>
            <a:pPr algn="just" marL="667486" indent="-333743" lvl="1">
              <a:lnSpc>
                <a:spcPts val="4328"/>
              </a:lnSpc>
              <a:buFont typeface="Arial"/>
              <a:buChar char="•"/>
            </a:pPr>
            <a:r>
              <a:rPr lang="en-US" sz="3091">
                <a:solidFill>
                  <a:srgbClr val="120052"/>
                </a:solidFill>
                <a:latin typeface="Tomorrow"/>
                <a:ea typeface="Tomorrow"/>
                <a:cs typeface="Tomorrow"/>
                <a:sym typeface="Tomorrow"/>
              </a:rPr>
              <a:t>Euler's Number (e)</a:t>
            </a:r>
          </a:p>
          <a:p>
            <a:pPr algn="just" marL="0" indent="0" lvl="0">
              <a:lnSpc>
                <a:spcPts val="4328"/>
              </a:lnSpc>
              <a:spcBef>
                <a:spcPct val="0"/>
              </a:spcBef>
            </a:pPr>
          </a:p>
        </p:txBody>
      </p:sp>
      <p:grpSp>
        <p:nvGrpSpPr>
          <p:cNvPr name="Group 4" id="4"/>
          <p:cNvGrpSpPr/>
          <p:nvPr/>
        </p:nvGrpSpPr>
        <p:grpSpPr>
          <a:xfrm rot="0">
            <a:off x="-514350" y="-334552"/>
            <a:ext cx="18802350" cy="2006600"/>
            <a:chOff x="0" y="0"/>
            <a:chExt cx="4952059" cy="528487"/>
          </a:xfrm>
        </p:grpSpPr>
        <p:sp>
          <p:nvSpPr>
            <p:cNvPr name="Freeform 5" id="5"/>
            <p:cNvSpPr/>
            <p:nvPr/>
          </p:nvSpPr>
          <p:spPr>
            <a:xfrm flipH="false" flipV="false" rot="0">
              <a:off x="0" y="0"/>
              <a:ext cx="4952059" cy="528487"/>
            </a:xfrm>
            <a:custGeom>
              <a:avLst/>
              <a:gdLst/>
              <a:ahLst/>
              <a:cxnLst/>
              <a:rect r="r" b="b" t="t" l="l"/>
              <a:pathLst>
                <a:path h="528487" w="4952059">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6" id="6"/>
            <p:cNvSpPr txBox="true"/>
            <p:nvPr/>
          </p:nvSpPr>
          <p:spPr>
            <a:xfrm>
              <a:off x="0" y="-47625"/>
              <a:ext cx="4952059" cy="57611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334552"/>
            <a:ext cx="18802350" cy="2006600"/>
            <a:chOff x="0" y="0"/>
            <a:chExt cx="4952059" cy="528487"/>
          </a:xfrm>
        </p:grpSpPr>
        <p:sp>
          <p:nvSpPr>
            <p:cNvPr name="Freeform 3" id="3"/>
            <p:cNvSpPr/>
            <p:nvPr/>
          </p:nvSpPr>
          <p:spPr>
            <a:xfrm flipH="false" flipV="false" rot="0">
              <a:off x="0" y="0"/>
              <a:ext cx="4952059" cy="528487"/>
            </a:xfrm>
            <a:custGeom>
              <a:avLst/>
              <a:gdLst/>
              <a:ahLst/>
              <a:cxnLst/>
              <a:rect r="r" b="b" t="t" l="l"/>
              <a:pathLst>
                <a:path h="528487" w="4952059">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4" id="4"/>
            <p:cNvSpPr txBox="true"/>
            <p:nvPr/>
          </p:nvSpPr>
          <p:spPr>
            <a:xfrm>
              <a:off x="0" y="-47625"/>
              <a:ext cx="4952059" cy="5761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57175" y="8490755"/>
            <a:ext cx="18802350" cy="2006600"/>
            <a:chOff x="0" y="0"/>
            <a:chExt cx="4952059" cy="528487"/>
          </a:xfrm>
        </p:grpSpPr>
        <p:sp>
          <p:nvSpPr>
            <p:cNvPr name="Freeform 6" id="6"/>
            <p:cNvSpPr/>
            <p:nvPr/>
          </p:nvSpPr>
          <p:spPr>
            <a:xfrm flipH="false" flipV="false" rot="0">
              <a:off x="0" y="0"/>
              <a:ext cx="4952059" cy="528487"/>
            </a:xfrm>
            <a:custGeom>
              <a:avLst/>
              <a:gdLst/>
              <a:ahLst/>
              <a:cxnLst/>
              <a:rect r="r" b="b" t="t" l="l"/>
              <a:pathLst>
                <a:path h="528487" w="4952059">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7" id="7"/>
            <p:cNvSpPr txBox="true"/>
            <p:nvPr/>
          </p:nvSpPr>
          <p:spPr>
            <a:xfrm>
              <a:off x="0" y="-47625"/>
              <a:ext cx="4952059" cy="576112"/>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6709020" y="5518581"/>
            <a:ext cx="10264013" cy="2676694"/>
          </a:xfrm>
          <a:custGeom>
            <a:avLst/>
            <a:gdLst/>
            <a:ahLst/>
            <a:cxnLst/>
            <a:rect r="r" b="b" t="t" l="l"/>
            <a:pathLst>
              <a:path h="2676694" w="10264013">
                <a:moveTo>
                  <a:pt x="0" y="0"/>
                </a:moveTo>
                <a:lnTo>
                  <a:pt x="10264013" y="0"/>
                </a:lnTo>
                <a:lnTo>
                  <a:pt x="10264013" y="2676694"/>
                </a:lnTo>
                <a:lnTo>
                  <a:pt x="0" y="2676694"/>
                </a:lnTo>
                <a:lnTo>
                  <a:pt x="0" y="0"/>
                </a:lnTo>
                <a:close/>
              </a:path>
            </a:pathLst>
          </a:custGeom>
          <a:blipFill>
            <a:blip r:embed="rId2"/>
            <a:stretch>
              <a:fillRect l="0" t="0" r="0" b="0"/>
            </a:stretch>
          </a:blipFill>
        </p:spPr>
      </p:sp>
      <p:sp>
        <p:nvSpPr>
          <p:cNvPr name="TextBox 9" id="9"/>
          <p:cNvSpPr txBox="true"/>
          <p:nvPr/>
        </p:nvSpPr>
        <p:spPr>
          <a:xfrm rot="0">
            <a:off x="295305" y="2004631"/>
            <a:ext cx="7442351" cy="3859103"/>
          </a:xfrm>
          <a:prstGeom prst="rect">
            <a:avLst/>
          </a:prstGeom>
        </p:spPr>
        <p:txBody>
          <a:bodyPr anchor="t" rtlCol="false" tIns="0" lIns="0" bIns="0" rIns="0">
            <a:spAutoFit/>
          </a:bodyPr>
          <a:lstStyle/>
          <a:p>
            <a:pPr algn="just">
              <a:lnSpc>
                <a:spcPts val="5168"/>
              </a:lnSpc>
            </a:pPr>
            <a:r>
              <a:rPr lang="en-US" sz="3691">
                <a:solidFill>
                  <a:srgbClr val="120052"/>
                </a:solidFill>
                <a:latin typeface="League Spartan"/>
                <a:ea typeface="League Spartan"/>
                <a:cs typeface="League Spartan"/>
                <a:sym typeface="League Spartan"/>
              </a:rPr>
              <a:t>Memory Functions</a:t>
            </a:r>
          </a:p>
          <a:p>
            <a:pPr algn="just" marL="797064" indent="-398532" lvl="1">
              <a:lnSpc>
                <a:spcPts val="5168"/>
              </a:lnSpc>
              <a:buFont typeface="Arial"/>
              <a:buChar char="•"/>
            </a:pPr>
            <a:r>
              <a:rPr lang="en-US" sz="3691">
                <a:solidFill>
                  <a:srgbClr val="120052"/>
                </a:solidFill>
                <a:latin typeface="Tomorrow"/>
                <a:ea typeface="Tomorrow"/>
                <a:cs typeface="Tomorrow"/>
                <a:sym typeface="Tomorrow"/>
              </a:rPr>
              <a:t>MC – Clear Memory</a:t>
            </a:r>
          </a:p>
          <a:p>
            <a:pPr algn="just" marL="797064" indent="-398532" lvl="1">
              <a:lnSpc>
                <a:spcPts val="5168"/>
              </a:lnSpc>
              <a:buFont typeface="Arial"/>
              <a:buChar char="•"/>
            </a:pPr>
            <a:r>
              <a:rPr lang="en-US" sz="3691">
                <a:solidFill>
                  <a:srgbClr val="120052"/>
                </a:solidFill>
                <a:latin typeface="Tomorrow"/>
                <a:ea typeface="Tomorrow"/>
                <a:cs typeface="Tomorrow"/>
                <a:sym typeface="Tomorrow"/>
              </a:rPr>
              <a:t>MR – Recall Memory</a:t>
            </a:r>
          </a:p>
          <a:p>
            <a:pPr algn="just" marL="797064" indent="-398532" lvl="1">
              <a:lnSpc>
                <a:spcPts val="5168"/>
              </a:lnSpc>
              <a:buFont typeface="Arial"/>
              <a:buChar char="•"/>
            </a:pPr>
            <a:r>
              <a:rPr lang="en-US" sz="3691">
                <a:solidFill>
                  <a:srgbClr val="120052"/>
                </a:solidFill>
                <a:latin typeface="Tomorrow"/>
                <a:ea typeface="Tomorrow"/>
                <a:cs typeface="Tomorrow"/>
                <a:sym typeface="Tomorrow"/>
              </a:rPr>
              <a:t>M+ – Add to Memory</a:t>
            </a:r>
          </a:p>
          <a:p>
            <a:pPr algn="just" marL="797064" indent="-398532" lvl="1">
              <a:lnSpc>
                <a:spcPts val="5168"/>
              </a:lnSpc>
              <a:buFont typeface="Arial"/>
              <a:buChar char="•"/>
            </a:pPr>
            <a:r>
              <a:rPr lang="en-US" sz="3691">
                <a:solidFill>
                  <a:srgbClr val="120052"/>
                </a:solidFill>
                <a:latin typeface="Tomorrow"/>
                <a:ea typeface="Tomorrow"/>
                <a:cs typeface="Tomorrow"/>
                <a:sym typeface="Tomorrow"/>
              </a:rPr>
              <a:t>M− – Subtract from Memory</a:t>
            </a:r>
          </a:p>
          <a:p>
            <a:pPr algn="just" marL="0" indent="0" lvl="0">
              <a:lnSpc>
                <a:spcPts val="5168"/>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30300" y="4057750"/>
            <a:ext cx="3086100" cy="2171499"/>
            <a:chOff x="0" y="0"/>
            <a:chExt cx="812800" cy="571917"/>
          </a:xfrm>
        </p:grpSpPr>
        <p:sp>
          <p:nvSpPr>
            <p:cNvPr name="Freeform 3" id="3"/>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4" id="4"/>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77900" y="4210150"/>
            <a:ext cx="3086100" cy="2171499"/>
            <a:chOff x="0" y="0"/>
            <a:chExt cx="812800" cy="571917"/>
          </a:xfrm>
        </p:grpSpPr>
        <p:sp>
          <p:nvSpPr>
            <p:cNvPr name="Freeform 6" id="6"/>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7" id="7"/>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26341" y="7286950"/>
            <a:ext cx="3086100" cy="2171499"/>
            <a:chOff x="0" y="0"/>
            <a:chExt cx="812800" cy="571917"/>
          </a:xfrm>
        </p:grpSpPr>
        <p:sp>
          <p:nvSpPr>
            <p:cNvPr name="Freeform 9" id="9"/>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0" id="10"/>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25500" y="615751"/>
            <a:ext cx="3086100" cy="2171499"/>
            <a:chOff x="0" y="0"/>
            <a:chExt cx="812800" cy="571917"/>
          </a:xfrm>
        </p:grpSpPr>
        <p:sp>
          <p:nvSpPr>
            <p:cNvPr name="Freeform 12" id="12"/>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3" id="13"/>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8234390" y="2497009"/>
            <a:ext cx="9024910" cy="4789941"/>
          </a:xfrm>
          <a:custGeom>
            <a:avLst/>
            <a:gdLst/>
            <a:ahLst/>
            <a:cxnLst/>
            <a:rect r="r" b="b" t="t" l="l"/>
            <a:pathLst>
              <a:path h="4789941" w="9024910">
                <a:moveTo>
                  <a:pt x="0" y="0"/>
                </a:moveTo>
                <a:lnTo>
                  <a:pt x="9024910" y="0"/>
                </a:lnTo>
                <a:lnTo>
                  <a:pt x="9024910" y="4789941"/>
                </a:lnTo>
                <a:lnTo>
                  <a:pt x="0" y="4789941"/>
                </a:lnTo>
                <a:lnTo>
                  <a:pt x="0" y="0"/>
                </a:lnTo>
                <a:close/>
              </a:path>
            </a:pathLst>
          </a:custGeom>
          <a:blipFill>
            <a:blip r:embed="rId2"/>
            <a:stretch>
              <a:fillRect l="0" t="0" r="0" b="0"/>
            </a:stretch>
          </a:blipFill>
        </p:spPr>
      </p:sp>
      <p:sp>
        <p:nvSpPr>
          <p:cNvPr name="TextBox 15" id="15"/>
          <p:cNvSpPr txBox="true"/>
          <p:nvPr/>
        </p:nvSpPr>
        <p:spPr>
          <a:xfrm rot="0">
            <a:off x="2522865" y="1684459"/>
            <a:ext cx="6813395" cy="6581653"/>
          </a:xfrm>
          <a:prstGeom prst="rect">
            <a:avLst/>
          </a:prstGeom>
        </p:spPr>
        <p:txBody>
          <a:bodyPr anchor="t" rtlCol="false" tIns="0" lIns="0" bIns="0" rIns="0">
            <a:spAutoFit/>
          </a:bodyPr>
          <a:lstStyle/>
          <a:p>
            <a:pPr algn="just">
              <a:lnSpc>
                <a:spcPts val="4731"/>
              </a:lnSpc>
            </a:pPr>
            <a:r>
              <a:rPr lang="en-US" sz="3379">
                <a:solidFill>
                  <a:srgbClr val="120052"/>
                </a:solidFill>
                <a:latin typeface="League Spartan"/>
                <a:ea typeface="League Spartan"/>
                <a:cs typeface="League Spartan"/>
                <a:sym typeface="League Spartan"/>
              </a:rPr>
              <a:t>Utility Features</a:t>
            </a:r>
          </a:p>
          <a:p>
            <a:pPr algn="just" marL="729704" indent="-364852" lvl="1">
              <a:lnSpc>
                <a:spcPts val="4731"/>
              </a:lnSpc>
              <a:buFont typeface="Arial"/>
              <a:buChar char="•"/>
            </a:pPr>
            <a:r>
              <a:rPr lang="en-US" sz="3379">
                <a:solidFill>
                  <a:srgbClr val="120052"/>
                </a:solidFill>
                <a:latin typeface="Tomorrow"/>
                <a:ea typeface="Tomorrow"/>
                <a:cs typeface="Tomorrow"/>
                <a:sym typeface="Tomorrow"/>
              </a:rPr>
              <a:t>Clear (C)</a:t>
            </a:r>
          </a:p>
          <a:p>
            <a:pPr algn="just" marL="729704" indent="-364852" lvl="1">
              <a:lnSpc>
                <a:spcPts val="4731"/>
              </a:lnSpc>
              <a:buFont typeface="Arial"/>
              <a:buChar char="•"/>
            </a:pPr>
            <a:r>
              <a:rPr lang="en-US" sz="3379">
                <a:solidFill>
                  <a:srgbClr val="120052"/>
                </a:solidFill>
                <a:latin typeface="Tomorrow"/>
                <a:ea typeface="Tomorrow"/>
                <a:cs typeface="Tomorrow"/>
                <a:sym typeface="Tomorrow"/>
              </a:rPr>
              <a:t>Backspace (⌫)</a:t>
            </a:r>
          </a:p>
          <a:p>
            <a:pPr algn="just" marL="729704" indent="-364852" lvl="1">
              <a:lnSpc>
                <a:spcPts val="4731"/>
              </a:lnSpc>
              <a:buFont typeface="Arial"/>
              <a:buChar char="•"/>
            </a:pPr>
            <a:r>
              <a:rPr lang="en-US" sz="3379">
                <a:solidFill>
                  <a:srgbClr val="120052"/>
                </a:solidFill>
                <a:latin typeface="Tomorrow"/>
                <a:ea typeface="Tomorrow"/>
                <a:cs typeface="Tomorrow"/>
                <a:sym typeface="Tomorrow"/>
              </a:rPr>
              <a:t>Positive/Negative (±)</a:t>
            </a:r>
          </a:p>
          <a:p>
            <a:pPr algn="just" marL="729704" indent="-364852" lvl="1">
              <a:lnSpc>
                <a:spcPts val="4731"/>
              </a:lnSpc>
              <a:buFont typeface="Arial"/>
              <a:buChar char="•"/>
            </a:pPr>
            <a:r>
              <a:rPr lang="en-US" sz="3379">
                <a:solidFill>
                  <a:srgbClr val="120052"/>
                </a:solidFill>
                <a:latin typeface="Tomorrow"/>
                <a:ea typeface="Tomorrow"/>
                <a:cs typeface="Tomorrow"/>
                <a:sym typeface="Tomorrow"/>
              </a:rPr>
              <a:t>Decimal Point (.)</a:t>
            </a:r>
          </a:p>
          <a:p>
            <a:pPr algn="just" marL="729704" indent="-364852" lvl="1">
              <a:lnSpc>
                <a:spcPts val="4731"/>
              </a:lnSpc>
              <a:buFont typeface="Arial"/>
              <a:buChar char="•"/>
            </a:pPr>
            <a:r>
              <a:rPr lang="en-US" sz="3379">
                <a:solidFill>
                  <a:srgbClr val="120052"/>
                </a:solidFill>
                <a:latin typeface="Tomorrow"/>
                <a:ea typeface="Tomorrow"/>
                <a:cs typeface="Tomorrow"/>
                <a:sym typeface="Tomorrow"/>
              </a:rPr>
              <a:t>Calculation History</a:t>
            </a:r>
          </a:p>
          <a:p>
            <a:pPr algn="just" marL="729704" indent="-364852" lvl="1">
              <a:lnSpc>
                <a:spcPts val="4731"/>
              </a:lnSpc>
              <a:buFont typeface="Arial"/>
              <a:buChar char="•"/>
            </a:pPr>
            <a:r>
              <a:rPr lang="en-US" sz="3379">
                <a:solidFill>
                  <a:srgbClr val="120052"/>
                </a:solidFill>
                <a:latin typeface="Tomorrow"/>
                <a:ea typeface="Tomorrow"/>
                <a:cs typeface="Tomorrow"/>
                <a:sym typeface="Tomorrow"/>
              </a:rPr>
              <a:t>Save &amp; Clear History</a:t>
            </a:r>
          </a:p>
          <a:p>
            <a:pPr algn="just" marL="729704" indent="-364852" lvl="1">
              <a:lnSpc>
                <a:spcPts val="4731"/>
              </a:lnSpc>
              <a:buFont typeface="Arial"/>
              <a:buChar char="•"/>
            </a:pPr>
            <a:r>
              <a:rPr lang="en-US" sz="3379">
                <a:solidFill>
                  <a:srgbClr val="120052"/>
                </a:solidFill>
                <a:latin typeface="Tomorrow"/>
                <a:ea typeface="Tomorrow"/>
                <a:cs typeface="Tomorrow"/>
                <a:sym typeface="Tomorrow"/>
              </a:rPr>
              <a:t>Graph Plotting (y = f(x))</a:t>
            </a:r>
          </a:p>
          <a:p>
            <a:pPr algn="just" marL="729704" indent="-364852" lvl="1">
              <a:lnSpc>
                <a:spcPts val="4731"/>
              </a:lnSpc>
              <a:buFont typeface="Arial"/>
              <a:buChar char="•"/>
            </a:pPr>
            <a:r>
              <a:rPr lang="en-US" sz="3379">
                <a:solidFill>
                  <a:srgbClr val="120052"/>
                </a:solidFill>
                <a:latin typeface="Tomorrow"/>
                <a:ea typeface="Tomorrow"/>
                <a:cs typeface="Tomorrow"/>
                <a:sym typeface="Tomorrow"/>
              </a:rPr>
              <a:t>Dark Mode</a:t>
            </a:r>
          </a:p>
          <a:p>
            <a:pPr algn="just" marL="729704" indent="-364852" lvl="1">
              <a:lnSpc>
                <a:spcPts val="4731"/>
              </a:lnSpc>
              <a:buFont typeface="Arial"/>
              <a:buChar char="•"/>
            </a:pPr>
            <a:r>
              <a:rPr lang="en-US" sz="3379">
                <a:solidFill>
                  <a:srgbClr val="120052"/>
                </a:solidFill>
                <a:latin typeface="Tomorrow"/>
                <a:ea typeface="Tomorrow"/>
                <a:cs typeface="Tomorrow"/>
                <a:sym typeface="Tomorrow"/>
              </a:rPr>
              <a:t>Degree (DEG) Mode</a:t>
            </a:r>
          </a:p>
          <a:p>
            <a:pPr algn="just">
              <a:lnSpc>
                <a:spcPts val="4731"/>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03163" y="2405209"/>
            <a:ext cx="7854209" cy="2522217"/>
          </a:xfrm>
          <a:prstGeom prst="rect">
            <a:avLst/>
          </a:prstGeom>
        </p:spPr>
        <p:txBody>
          <a:bodyPr anchor="t" rtlCol="false" tIns="0" lIns="0" bIns="0" rIns="0">
            <a:spAutoFit/>
          </a:bodyPr>
          <a:lstStyle/>
          <a:p>
            <a:pPr algn="just">
              <a:lnSpc>
                <a:spcPts val="10065"/>
              </a:lnSpc>
            </a:pPr>
            <a:r>
              <a:rPr lang="en-US" sz="7625" spc="-823">
                <a:solidFill>
                  <a:srgbClr val="120052"/>
                </a:solidFill>
                <a:latin typeface="League Spartan"/>
                <a:ea typeface="League Spartan"/>
                <a:cs typeface="League Spartan"/>
                <a:sym typeface="League Spartan"/>
              </a:rPr>
              <a:t>CONCLUSION &amp;</a:t>
            </a:r>
          </a:p>
          <a:p>
            <a:pPr algn="just">
              <a:lnSpc>
                <a:spcPts val="10065"/>
              </a:lnSpc>
            </a:pPr>
            <a:r>
              <a:rPr lang="en-US" sz="7625" spc="-823">
                <a:solidFill>
                  <a:srgbClr val="120052"/>
                </a:solidFill>
                <a:latin typeface="League Spartan"/>
                <a:ea typeface="League Spartan"/>
                <a:cs typeface="League Spartan"/>
                <a:sym typeface="League Spartan"/>
              </a:rPr>
              <a:t>FUTURE SCOPE</a:t>
            </a:r>
          </a:p>
        </p:txBody>
      </p:sp>
      <p:sp>
        <p:nvSpPr>
          <p:cNvPr name="TextBox 3" id="3"/>
          <p:cNvSpPr txBox="true"/>
          <p:nvPr/>
        </p:nvSpPr>
        <p:spPr>
          <a:xfrm rot="0">
            <a:off x="7879598" y="2534831"/>
            <a:ext cx="9984413" cy="6656251"/>
          </a:xfrm>
          <a:prstGeom prst="rect">
            <a:avLst/>
          </a:prstGeom>
        </p:spPr>
        <p:txBody>
          <a:bodyPr anchor="t" rtlCol="false" tIns="0" lIns="0" bIns="0" rIns="0">
            <a:spAutoFit/>
          </a:bodyPr>
          <a:lstStyle/>
          <a:p>
            <a:pPr algn="ctr">
              <a:lnSpc>
                <a:spcPts val="3770"/>
              </a:lnSpc>
            </a:pPr>
            <a:r>
              <a:rPr lang="en-US" sz="2692">
                <a:solidFill>
                  <a:srgbClr val="031A47"/>
                </a:solidFill>
                <a:latin typeface="Tomorrow"/>
                <a:ea typeface="Tomorrow"/>
                <a:cs typeface="Tomorrow"/>
                <a:sym typeface="Tomorrow"/>
              </a:rPr>
              <a:t>Conclusion</a:t>
            </a:r>
          </a:p>
          <a:p>
            <a:pPr algn="ctr" marL="581395" indent="-290697" lvl="1">
              <a:lnSpc>
                <a:spcPts val="3770"/>
              </a:lnSpc>
              <a:buFont typeface="Arial"/>
              <a:buChar char="•"/>
            </a:pPr>
            <a:r>
              <a:rPr lang="en-US" sz="2692">
                <a:solidFill>
                  <a:srgbClr val="031A47"/>
                </a:solidFill>
                <a:latin typeface="Tomorrow"/>
                <a:ea typeface="Tomorrow"/>
                <a:cs typeface="Tomorrow"/>
                <a:sym typeface="Tomorrow"/>
              </a:rPr>
              <a:t>Developed a Scientific Calculator using Python and Tkinter.</a:t>
            </a:r>
          </a:p>
          <a:p>
            <a:pPr algn="ctr" marL="581395" indent="-290697" lvl="1">
              <a:lnSpc>
                <a:spcPts val="3770"/>
              </a:lnSpc>
              <a:buFont typeface="Arial"/>
              <a:buChar char="•"/>
            </a:pPr>
            <a:r>
              <a:rPr lang="en-US" sz="2692">
                <a:solidFill>
                  <a:srgbClr val="031A47"/>
                </a:solidFill>
                <a:latin typeface="Tomorrow"/>
                <a:ea typeface="Tomorrow"/>
                <a:cs typeface="Tomorrow"/>
                <a:sym typeface="Tomorrow"/>
              </a:rPr>
              <a:t>Successfully integrated both basic and scientific operations.</a:t>
            </a:r>
          </a:p>
          <a:p>
            <a:pPr algn="ctr" marL="581395" indent="-290697" lvl="1">
              <a:lnSpc>
                <a:spcPts val="3770"/>
              </a:lnSpc>
              <a:buFont typeface="Arial"/>
              <a:buChar char="•"/>
            </a:pPr>
            <a:r>
              <a:rPr lang="en-US" sz="2692">
                <a:solidFill>
                  <a:srgbClr val="031A47"/>
                </a:solidFill>
                <a:latin typeface="Tomorrow"/>
                <a:ea typeface="Tomorrow"/>
                <a:cs typeface="Tomorrow"/>
                <a:sym typeface="Tomorrow"/>
              </a:rPr>
              <a:t>Improved understanding of GUI development, event handling, and Python programming.</a:t>
            </a:r>
          </a:p>
          <a:p>
            <a:pPr algn="ctr">
              <a:lnSpc>
                <a:spcPts val="3770"/>
              </a:lnSpc>
            </a:pPr>
            <a:r>
              <a:rPr lang="en-US" sz="2692">
                <a:solidFill>
                  <a:srgbClr val="031A47"/>
                </a:solidFill>
                <a:latin typeface="Tomorrow"/>
                <a:ea typeface="Tomorrow"/>
                <a:cs typeface="Tomorrow"/>
                <a:sym typeface="Tomorrow"/>
              </a:rPr>
              <a:t>Future Improvements</a:t>
            </a:r>
          </a:p>
          <a:p>
            <a:pPr algn="ctr" marL="581395" indent="-290697" lvl="1">
              <a:lnSpc>
                <a:spcPts val="3770"/>
              </a:lnSpc>
              <a:buFont typeface="Arial"/>
              <a:buChar char="•"/>
            </a:pPr>
            <a:r>
              <a:rPr lang="en-US" sz="2692">
                <a:solidFill>
                  <a:srgbClr val="031A47"/>
                </a:solidFill>
                <a:latin typeface="Tomorrow"/>
                <a:ea typeface="Tomorrow"/>
                <a:cs typeface="Tomorrow"/>
                <a:sym typeface="Tomorrow"/>
              </a:rPr>
              <a:t>Dark Mode</a:t>
            </a:r>
          </a:p>
          <a:p>
            <a:pPr algn="ctr" marL="581395" indent="-290697" lvl="1">
              <a:lnSpc>
                <a:spcPts val="3770"/>
              </a:lnSpc>
              <a:buFont typeface="Arial"/>
              <a:buChar char="•"/>
            </a:pPr>
            <a:r>
              <a:rPr lang="en-US" sz="2692">
                <a:solidFill>
                  <a:srgbClr val="031A47"/>
                </a:solidFill>
                <a:latin typeface="Tomorrow"/>
                <a:ea typeface="Tomorrow"/>
                <a:cs typeface="Tomorrow"/>
                <a:sym typeface="Tomorrow"/>
              </a:rPr>
              <a:t>Calculation History</a:t>
            </a:r>
          </a:p>
          <a:p>
            <a:pPr algn="ctr" marL="581395" indent="-290697" lvl="1">
              <a:lnSpc>
                <a:spcPts val="3770"/>
              </a:lnSpc>
              <a:buFont typeface="Arial"/>
              <a:buChar char="•"/>
            </a:pPr>
            <a:r>
              <a:rPr lang="en-US" sz="2692">
                <a:solidFill>
                  <a:srgbClr val="031A47"/>
                </a:solidFill>
                <a:latin typeface="Tomorrow"/>
                <a:ea typeface="Tomorrow"/>
                <a:cs typeface="Tomorrow"/>
                <a:sym typeface="Tomorrow"/>
              </a:rPr>
              <a:t>Keyboard Shortcuts</a:t>
            </a:r>
          </a:p>
          <a:p>
            <a:pPr algn="ctr" marL="581395" indent="-290697" lvl="1">
              <a:lnSpc>
                <a:spcPts val="3770"/>
              </a:lnSpc>
              <a:buFont typeface="Arial"/>
              <a:buChar char="•"/>
            </a:pPr>
            <a:r>
              <a:rPr lang="en-US" sz="2692">
                <a:solidFill>
                  <a:srgbClr val="031A47"/>
                </a:solidFill>
                <a:latin typeface="Tomorrow"/>
                <a:ea typeface="Tomorrow"/>
                <a:cs typeface="Tomorrow"/>
                <a:sym typeface="Tomorrow"/>
              </a:rPr>
              <a:t>Memory Functions</a:t>
            </a:r>
          </a:p>
          <a:p>
            <a:pPr algn="ctr" marL="581395" indent="-290697" lvl="1">
              <a:lnSpc>
                <a:spcPts val="3770"/>
              </a:lnSpc>
              <a:buFont typeface="Arial"/>
              <a:buChar char="•"/>
            </a:pPr>
            <a:r>
              <a:rPr lang="en-US" sz="2692">
                <a:solidFill>
                  <a:srgbClr val="031A47"/>
                </a:solidFill>
                <a:latin typeface="Tomorrow"/>
                <a:ea typeface="Tomorrow"/>
                <a:cs typeface="Tomorrow"/>
                <a:sym typeface="Tomorrow"/>
              </a:rPr>
              <a:t>Improved UI Design</a:t>
            </a:r>
          </a:p>
          <a:p>
            <a:pPr algn="ctr">
              <a:lnSpc>
                <a:spcPts val="3770"/>
              </a:lnSpc>
            </a:pPr>
          </a:p>
        </p:txBody>
      </p:sp>
      <p:sp>
        <p:nvSpPr>
          <p:cNvPr name="Freeform 4" id="4"/>
          <p:cNvSpPr/>
          <p:nvPr/>
        </p:nvSpPr>
        <p:spPr>
          <a:xfrm flipH="false" flipV="false" rot="4231444">
            <a:off x="-1118048" y="-13099215"/>
            <a:ext cx="19645494" cy="23904915"/>
          </a:xfrm>
          <a:custGeom>
            <a:avLst/>
            <a:gdLst/>
            <a:ahLst/>
            <a:cxnLst/>
            <a:rect r="r" b="b" t="t" l="l"/>
            <a:pathLst>
              <a:path h="23904915" w="19645494">
                <a:moveTo>
                  <a:pt x="0" y="0"/>
                </a:moveTo>
                <a:lnTo>
                  <a:pt x="19645494" y="0"/>
                </a:lnTo>
                <a:lnTo>
                  <a:pt x="19645494" y="23904915"/>
                </a:lnTo>
                <a:lnTo>
                  <a:pt x="0" y="23904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4231444">
            <a:off x="-10511963" y="-3736638"/>
            <a:ext cx="19645494" cy="23904915"/>
          </a:xfrm>
          <a:custGeom>
            <a:avLst/>
            <a:gdLst/>
            <a:ahLst/>
            <a:cxnLst/>
            <a:rect r="r" b="b" t="t" l="l"/>
            <a:pathLst>
              <a:path h="23904915" w="19645494">
                <a:moveTo>
                  <a:pt x="0" y="0"/>
                </a:moveTo>
                <a:lnTo>
                  <a:pt x="19645494" y="0"/>
                </a:lnTo>
                <a:lnTo>
                  <a:pt x="19645494" y="23904915"/>
                </a:lnTo>
                <a:lnTo>
                  <a:pt x="0" y="2390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31272" y="1510738"/>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808628" y="1510738"/>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5000525" y="1578136"/>
            <a:ext cx="8421405" cy="1265381"/>
          </a:xfrm>
          <a:prstGeom prst="rect">
            <a:avLst/>
          </a:prstGeom>
        </p:spPr>
        <p:txBody>
          <a:bodyPr anchor="t" rtlCol="false" tIns="0" lIns="0" bIns="0" rIns="0">
            <a:spAutoFit/>
          </a:bodyPr>
          <a:lstStyle/>
          <a:p>
            <a:pPr algn="ctr">
              <a:lnSpc>
                <a:spcPts val="10334"/>
              </a:lnSpc>
            </a:pPr>
            <a:r>
              <a:rPr lang="en-US" b="true" sz="7382">
                <a:solidFill>
                  <a:srgbClr val="004AAD"/>
                </a:solidFill>
                <a:latin typeface="League Spartan"/>
                <a:ea typeface="League Spartan"/>
                <a:cs typeface="League Spartan"/>
                <a:sym typeface="League Spartan"/>
              </a:rPr>
              <a:t>THANK YOU</a:t>
            </a:r>
          </a:p>
        </p:txBody>
      </p:sp>
      <p:sp>
        <p:nvSpPr>
          <p:cNvPr name="TextBox 10" id="10"/>
          <p:cNvSpPr txBox="true"/>
          <p:nvPr/>
        </p:nvSpPr>
        <p:spPr>
          <a:xfrm rot="0">
            <a:off x="289197" y="4566731"/>
            <a:ext cx="17259300" cy="3277151"/>
          </a:xfrm>
          <a:prstGeom prst="rect">
            <a:avLst/>
          </a:prstGeom>
        </p:spPr>
        <p:txBody>
          <a:bodyPr anchor="t" rtlCol="false" tIns="0" lIns="0" bIns="0" rIns="0">
            <a:spAutoFit/>
          </a:bodyPr>
          <a:lstStyle/>
          <a:p>
            <a:pPr algn="l" marL="804939" indent="-402469" lvl="1">
              <a:lnSpc>
                <a:spcPts val="5219"/>
              </a:lnSpc>
              <a:buFont typeface="Arial"/>
              <a:buChar char="•"/>
            </a:pPr>
            <a:r>
              <a:rPr lang="en-US" sz="3728">
                <a:solidFill>
                  <a:srgbClr val="004AAD"/>
                </a:solidFill>
                <a:latin typeface="Archivo Black"/>
                <a:ea typeface="Archivo Black"/>
                <a:cs typeface="Archivo Black"/>
                <a:sym typeface="Archivo Black"/>
              </a:rPr>
              <a:t>Thank you for your time and attention.</a:t>
            </a:r>
          </a:p>
          <a:p>
            <a:pPr algn="l" marL="804939" indent="-402469" lvl="1">
              <a:lnSpc>
                <a:spcPts val="5219"/>
              </a:lnSpc>
              <a:buFont typeface="Arial"/>
              <a:buChar char="•"/>
            </a:pPr>
            <a:r>
              <a:rPr lang="en-US" sz="3728">
                <a:solidFill>
                  <a:srgbClr val="004AAD"/>
                </a:solidFill>
                <a:latin typeface="Archivo Black"/>
                <a:ea typeface="Archivo Black"/>
                <a:cs typeface="Archivo Black"/>
                <a:sym typeface="Archivo Black"/>
              </a:rPr>
              <a:t>This project represents the successful development of a multi-functional unit converter calculator with a focus on accuracy, usability, and efficient interface design.</a:t>
            </a:r>
          </a:p>
          <a:p>
            <a:pPr algn="l" marL="804939" indent="-402469" lvl="1">
              <a:lnSpc>
                <a:spcPts val="5219"/>
              </a:lnSpc>
              <a:buFont typeface="Arial"/>
              <a:buChar char="•"/>
            </a:pPr>
            <a:r>
              <a:rPr lang="en-US" sz="3728">
                <a:solidFill>
                  <a:srgbClr val="004AAD"/>
                </a:solidFill>
                <a:latin typeface="Archivo Black"/>
                <a:ea typeface="Archivo Black"/>
                <a:cs typeface="Archivo Black"/>
                <a:sym typeface="Archivo Black"/>
              </a:rPr>
              <a:t>Your valuable feedback and suggestions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DAHOg14yEpM</dc:identifier>
  <dcterms:modified xsi:type="dcterms:W3CDTF">2011-08-01T06:04:30Z</dcterms:modified>
  <cp:revision>1</cp:revision>
  <dc:title>Scientific Calculator using Python &amp; Tkinter</dc:title>
</cp:coreProperties>
</file>